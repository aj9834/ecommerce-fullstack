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09911610c94eac" /><Relationship Type="http://schemas.openxmlformats.org/officeDocument/2006/relationships/extended-properties" Target="/docProps/app.xml" Id="R6afe6a4ecc9646b5" /><Relationship Type="http://schemas.openxmlformats.org/officeDocument/2006/relationships/officeDocument" Target="/ppt/presentation.xml" Id="Ra406c0bbf11e4f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97359a678b4d44"/>
  </p:sldMasterIdLst>
  <p:notesMasterIdLst>
    <p:notesMasterId xmlns:r="http://schemas.openxmlformats.org/officeDocument/2006/relationships" r:id="Rd25039f411bd4752"/>
  </p:notesMasterIdLst>
  <p:sldIdLst>
    <p:sldId xmlns:r="http://schemas.openxmlformats.org/officeDocument/2006/relationships" id="256" r:id="R13da756dbfdb453d"/>
    <p:sldId xmlns:r="http://schemas.openxmlformats.org/officeDocument/2006/relationships" id="257" r:id="R2e20e82b4a0b4a58"/>
    <p:sldId xmlns:r="http://schemas.openxmlformats.org/officeDocument/2006/relationships" id="258" r:id="R4f9e6e23732a499f"/>
    <p:sldId xmlns:r="http://schemas.openxmlformats.org/officeDocument/2006/relationships" id="259" r:id="R2231082f26244ba7"/>
    <p:sldId xmlns:r="http://schemas.openxmlformats.org/officeDocument/2006/relationships" id="260" r:id="R3427736d6b78486b"/>
    <p:sldId xmlns:r="http://schemas.openxmlformats.org/officeDocument/2006/relationships" id="261" r:id="R974ff3bb2497410e"/>
    <p:sldId xmlns:r="http://schemas.openxmlformats.org/officeDocument/2006/relationships" id="262" r:id="R61ad5e061ec4486e"/>
    <p:sldId xmlns:r="http://schemas.openxmlformats.org/officeDocument/2006/relationships" id="263" r:id="R756f312cc2ec4bc2"/>
    <p:sldId xmlns:r="http://schemas.openxmlformats.org/officeDocument/2006/relationships" id="264" r:id="R2a520e6c2e3f4efe"/>
    <p:sldId xmlns:r="http://schemas.openxmlformats.org/officeDocument/2006/relationships" id="265" r:id="R0181f8a205564a41"/>
    <p:sldId xmlns:r="http://schemas.openxmlformats.org/officeDocument/2006/relationships" id="266" r:id="R59ee12f8ac914e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85b9cc3294787" /><Relationship Type="http://schemas.openxmlformats.org/officeDocument/2006/relationships/slideMaster" Target="/ppt/slideMasters/slideMaster1.xml" Id="R9797359a678b4d44" /><Relationship Type="http://schemas.openxmlformats.org/officeDocument/2006/relationships/notesMaster" Target="/ppt/notesMasters/notesMaster1.xml" Id="Rd25039f411bd4752" /><Relationship Type="http://schemas.openxmlformats.org/officeDocument/2006/relationships/presProps" Target="/ppt/presProps.xml" Id="Re6899d6ed9a64931" /><Relationship Type="http://schemas.openxmlformats.org/officeDocument/2006/relationships/tableStyles" Target="/ppt/tableStyles.xml" Id="R3abf1a14269142e0" /><Relationship Type="http://schemas.openxmlformats.org/officeDocument/2006/relationships/slide" Target="/ppt/slides/slide1.xml" Id="R13da756dbfdb453d" /><Relationship Type="http://schemas.openxmlformats.org/officeDocument/2006/relationships/slide" Target="/ppt/slides/slide2.xml" Id="R2e20e82b4a0b4a58" /><Relationship Type="http://schemas.openxmlformats.org/officeDocument/2006/relationships/slide" Target="/ppt/slides/slide3.xml" Id="R4f9e6e23732a499f" /><Relationship Type="http://schemas.openxmlformats.org/officeDocument/2006/relationships/slide" Target="/ppt/slides/slide4.xml" Id="R2231082f26244ba7" /><Relationship Type="http://schemas.openxmlformats.org/officeDocument/2006/relationships/slide" Target="/ppt/slides/slide5.xml" Id="R3427736d6b78486b" /><Relationship Type="http://schemas.openxmlformats.org/officeDocument/2006/relationships/slide" Target="/ppt/slides/slide6.xml" Id="R974ff3bb2497410e" /><Relationship Type="http://schemas.openxmlformats.org/officeDocument/2006/relationships/slide" Target="/ppt/slides/slide7.xml" Id="R61ad5e061ec4486e" /><Relationship Type="http://schemas.openxmlformats.org/officeDocument/2006/relationships/slide" Target="/ppt/slides/slide8.xml" Id="R756f312cc2ec4bc2" /><Relationship Type="http://schemas.openxmlformats.org/officeDocument/2006/relationships/slide" Target="/ppt/slides/slide9.xml" Id="R2a520e6c2e3f4efe" /><Relationship Type="http://schemas.openxmlformats.org/officeDocument/2006/relationships/slide" Target="/ppt/slides/slide10.xml" Id="R0181f8a205564a41" /><Relationship Type="http://schemas.openxmlformats.org/officeDocument/2006/relationships/slide" Target="/ppt/slides/slide11.xml" Id="R59ee12f8ac914e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d9e48a970642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a4fe53c097440c" /><Relationship Type="http://schemas.openxmlformats.org/officeDocument/2006/relationships/notesMaster" Target="/ppt/notesMasters/notesMaster1.xml" Id="Rf41604b7c2bb4e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7783e3856747d1" /><Relationship Type="http://schemas.openxmlformats.org/officeDocument/2006/relationships/notesMaster" Target="/ppt/notesMasters/notesMaster1.xml" Id="R452690a8101147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8909c4d06d4733" /><Relationship Type="http://schemas.openxmlformats.org/officeDocument/2006/relationships/notesMaster" Target="/ppt/notesMasters/notesMaster1.xml" Id="R292be9fd8a0542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30d31d487a4451" /><Relationship Type="http://schemas.openxmlformats.org/officeDocument/2006/relationships/notesMaster" Target="/ppt/notesMasters/notesMaster1.xml" Id="R1c47ea63002b4f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0cdc7cf2044c02" /><Relationship Type="http://schemas.openxmlformats.org/officeDocument/2006/relationships/notesMaster" Target="/ppt/notesMasters/notesMaster1.xml" Id="R66cd8eedb9d745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f0f8173b20412c" /><Relationship Type="http://schemas.openxmlformats.org/officeDocument/2006/relationships/notesMaster" Target="/ppt/notesMasters/notesMaster1.xml" Id="R03836e6f2f4b4f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2eaee5874c4d13" /><Relationship Type="http://schemas.openxmlformats.org/officeDocument/2006/relationships/notesMaster" Target="/ppt/notesMasters/notesMaster1.xml" Id="R6439eef8ac424f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519673969649b9" /><Relationship Type="http://schemas.openxmlformats.org/officeDocument/2006/relationships/notesMaster" Target="/ppt/notesMasters/notesMaster1.xml" Id="R613c2f1f6e004a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6270d1f9f64ef2" /><Relationship Type="http://schemas.openxmlformats.org/officeDocument/2006/relationships/notesMaster" Target="/ppt/notesMasters/notesMaster1.xml" Id="R3cbf3b59abeb42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db8bf1b96349ba" /><Relationship Type="http://schemas.openxmlformats.org/officeDocument/2006/relationships/notesMaster" Target="/ppt/notesMasters/notesMaster1.xml" Id="R3a6ce1ecfa2f43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094f6489d54baf" /><Relationship Type="http://schemas.openxmlformats.org/officeDocument/2006/relationships/notesMaster" Target="/ppt/notesMasters/notesMaster1.xml" Id="Rcb9961f24ac0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0aa83abfc4f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f7f7b46c464679" /><Relationship Type="http://schemas.openxmlformats.org/officeDocument/2006/relationships/slideLayout" Target="/ppt/slideLayouts/slideLayout1.xml" Id="R870ccd424ee74c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0ccd424ee74c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dbd24df12430e" /><Relationship Type="http://schemas.openxmlformats.org/officeDocument/2006/relationships/image" Target="/ppt/media/image.jpeg" Id="R75b28ca4bbad47df" /><Relationship Type="http://schemas.openxmlformats.org/officeDocument/2006/relationships/notesSlide" Target="/ppt/notesSlides/notesSlide1.xml" Id="R5cc10066cabd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4ac3594b74418" /><Relationship Type="http://schemas.openxmlformats.org/officeDocument/2006/relationships/image" Target="/ppt/media/image2.jpeg" Id="Rab9eb54821b04c02" /><Relationship Type="http://schemas.openxmlformats.org/officeDocument/2006/relationships/notesSlide" Target="/ppt/notesSlides/notesSlide2.xml" Id="R56ad6e1416f2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c62340bb44061" /><Relationship Type="http://schemas.openxmlformats.org/officeDocument/2006/relationships/notesSlide" Target="/ppt/notesSlides/notesSlide3.xml" Id="Rb630643512824a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e870c0524413f" /><Relationship Type="http://schemas.openxmlformats.org/officeDocument/2006/relationships/image" Target="/ppt/media/image3.jpeg" Id="R3afdfe1b31eb46a2" /><Relationship Type="http://schemas.openxmlformats.org/officeDocument/2006/relationships/notesSlide" Target="/ppt/notesSlides/notesSlide4.xml" Id="R04ee6a4743724d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0917b3fe84104" /><Relationship Type="http://schemas.openxmlformats.org/officeDocument/2006/relationships/image" Target="/ppt/media/image4.jpeg" Id="Rfc4a1f4dbfac4a89" /><Relationship Type="http://schemas.openxmlformats.org/officeDocument/2006/relationships/image" Target="/ppt/media/image5.jpeg" Id="Rc55a3f0d763e44cd" /><Relationship Type="http://schemas.openxmlformats.org/officeDocument/2006/relationships/notesSlide" Target="/ppt/notesSlides/notesSlide5.xml" Id="Re771127eb299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dfa673e7647c2" /><Relationship Type="http://schemas.openxmlformats.org/officeDocument/2006/relationships/image" Target="/ppt/media/image6.jpeg" Id="R121612006ffa4f9f" /><Relationship Type="http://schemas.openxmlformats.org/officeDocument/2006/relationships/image" Target="/ppt/media/image7.jpeg" Id="R6d8757f6404d498a" /><Relationship Type="http://schemas.openxmlformats.org/officeDocument/2006/relationships/notesSlide" Target="/ppt/notesSlides/notesSlide6.xml" Id="R18db9ab8d5a546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5bebe91534156" /><Relationship Type="http://schemas.openxmlformats.org/officeDocument/2006/relationships/image" Target="/ppt/media/image8.jpeg" Id="R400ac83c931a499e" /><Relationship Type="http://schemas.openxmlformats.org/officeDocument/2006/relationships/notesSlide" Target="/ppt/notesSlides/notesSlide7.xml" Id="R73a96c47883a4e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08dde72a54f25" /><Relationship Type="http://schemas.openxmlformats.org/officeDocument/2006/relationships/image" Target="/ppt/media/image9.jpeg" Id="Rc0e02d05300840b3" /><Relationship Type="http://schemas.openxmlformats.org/officeDocument/2006/relationships/image" Target="/ppt/media/image10.jpeg" Id="Rec15b6047ad74032" /><Relationship Type="http://schemas.openxmlformats.org/officeDocument/2006/relationships/notesSlide" Target="/ppt/notesSlides/notesSlide8.xml" Id="R7808bf2f32e8405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7aa6fe9c940c2" /><Relationship Type="http://schemas.openxmlformats.org/officeDocument/2006/relationships/image" Target="/ppt/media/image11.jpeg" Id="Rbf2c1b6ee6bf4ce3" /><Relationship Type="http://schemas.openxmlformats.org/officeDocument/2006/relationships/notesSlide" Target="/ppt/notesSlides/notesSlide9.xml" Id="R92f9217f66c24a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1f67700b94ffb" /><Relationship Type="http://schemas.openxmlformats.org/officeDocument/2006/relationships/notesSlide" Target="/ppt/notesSlides/notesSlide10.xml" Id="Rd395fddfe6bd4e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10716ebfa4941" /><Relationship Type="http://schemas.openxmlformats.org/officeDocument/2006/relationships/notesSlide" Target="/ppt/notesSlides/notesSlide11.xml" Id="R4e4236cb398248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28ca4bbad47df"/>
          <a:srcRect xmlns:a="http://schemas.openxmlformats.org/drawingml/2006/main" l="28112" t="0" r="281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2" name="cover-green-field">
            <a:extLst xmlns:a="http://schemas.openxmlformats.org/drawingml/2006/main">
              <a:ext uri="{FF2B5EF4-FFF2-40B4-BE49-F238E27FC236}">
                <a16:creationId xmlns:a16="http://schemas.microsoft.com/office/drawing/2014/main" id="{94E3B302-75E9-4F80-9571-461EF14B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0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B27"/>
          </a:solidFill>
        </p:spPr>
      </p:sp>
      <p:sp>
        <p:nvSpPr>
          <p:cNvPr id="3" name="cover-orange-rule">
            <a:extLst xmlns:a="http://schemas.openxmlformats.org/drawingml/2006/main">
              <a:ext uri="{FF2B5EF4-FFF2-40B4-BE49-F238E27FC236}">
                <a16:creationId xmlns:a16="http://schemas.microsoft.com/office/drawing/2014/main" id="{6378EA1B-B46E-41B5-936A-ABDCDB62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B3F3B79-8C28-42E3-B20D-5AC26414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6B1A"/>
                </a:solidFill>
              </a:defRPr>
            </a:pPr>
            <a:r>
              <a:rPr sz="1050" b="1" i="0">
                <a:solidFill>
                  <a:srgbClr val="FF6B1A"/>
                </a:solidFill>
              </a:rPr>
              <a:t>MINOR PROJECT  /  FULL-STACK ENGINEERING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DAFF66B-AB77-432F-A708-30D91B67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MERCATO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B8CD2FA-F9AC-45F1-9237-92297CA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572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 secure end-to-end e-commerce platform</a:t>
            </a:r>
          </a:p>
        </p:txBody>
      </p:sp>
      <p:sp>
        <p:nvSpPr>
          <p:cNvPr id="7" name="cover-stack">
            <a:extLst xmlns:a="http://schemas.openxmlformats.org/drawingml/2006/main">
              <a:ext uri="{FF2B5EF4-FFF2-40B4-BE49-F238E27FC236}">
                <a16:creationId xmlns:a16="http://schemas.microsoft.com/office/drawing/2014/main" id="{F3B6397B-866B-4CBF-BB77-24B0B91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FE6D8"/>
                </a:solidFill>
              </a:defRPr>
            </a:pPr>
            <a:r>
              <a:rPr sz="1275" b="0" i="0">
                <a:solidFill>
                  <a:srgbClr val="CFE6D8"/>
                </a:solidFill>
              </a:rPr>
              <a:t>React 19  •  Spring Boot 3  •  MySQL  •  JWT  •  Razorpay</a:t>
            </a:r>
          </a:p>
        </p:txBody>
      </p:sp>
      <p:sp>
        <p:nvSpPr>
          <p:cNvPr id="8" name="cover-team-label">
            <a:extLst xmlns:a="http://schemas.openxmlformats.org/drawingml/2006/main">
              <a:ext uri="{FF2B5EF4-FFF2-40B4-BE49-F238E27FC236}">
                <a16:creationId xmlns:a16="http://schemas.microsoft.com/office/drawing/2014/main" id="{96B412F3-79CE-4CDC-B769-C682BB1F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TEAM MEMBERS</a:t>
            </a:r>
          </a:p>
        </p:txBody>
      </p:sp>
      <p:sp>
        <p:nvSpPr>
          <p:cNvPr id="9" name="cover-team">
            <a:extLst xmlns:a="http://schemas.openxmlformats.org/drawingml/2006/main">
              <a:ext uri="{FF2B5EF4-FFF2-40B4-BE49-F238E27FC236}">
                <a16:creationId xmlns:a16="http://schemas.microsoft.com/office/drawing/2014/main" id="{54FDD19F-6CB5-42A5-8747-A884E4F6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Radhika  •  Oshi  •  Annu  •  Ashish</a:t>
            </a:r>
          </a:p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Jay  •  Suraj  •  Varun  •  Kartik</a:t>
            </a:r>
          </a:p>
        </p:txBody>
      </p:sp>
      <p:sp>
        <p:nvSpPr>
          <p:cNvPr id="10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EBF8267F-167A-4B29-B3E9-9CE1782F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581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FE6D8"/>
                </a:solidFill>
              </a:defRPr>
            </a:pPr>
            <a:r>
              <a:rPr sz="1200" b="0" i="0">
                <a:solidFill>
                  <a:srgbClr val="CFE6D8"/>
                </a:solidFill>
              </a:rPr>
              <a:t>Customer journey, business logic, security, persistence and administration</a:t>
            </a:r>
          </a:p>
        </p:txBody>
      </p:sp>
      <p:sp>
        <p:nvSpPr>
          <p:cNvPr id="11" name="cover-page">
            <a:extLst xmlns:a="http://schemas.openxmlformats.org/drawingml/2006/main">
              <a:ext uri="{FF2B5EF4-FFF2-40B4-BE49-F238E27FC236}">
                <a16:creationId xmlns:a16="http://schemas.microsoft.com/office/drawing/2014/main" id="{EFC3CBEE-F42E-4748-BAAE-3BF86B23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6009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71DD1D22-130A-4181-9E57-A4F4A92A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PROBLEM STATEMENT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A1CF416-D297-43D3-A5E8-869CF040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One connected journey, with the server as the source of truth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6F906DBF-FCFB-469F-A80E-93A8864D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71B63E49-F77C-473C-BB4D-24C0AB63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2B3EAA11-B848-4B0D-AF13-B505BD1E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02</a:t>
            </a:r>
          </a:p>
        </p:txBody>
      </p:sp>
      <p:sp>
        <p:nvSpPr>
          <p:cNvPr id="6" name="login-frame">
            <a:extLst xmlns:a="http://schemas.openxmlformats.org/drawingml/2006/main">
              <a:ext uri="{FF2B5EF4-FFF2-40B4-BE49-F238E27FC236}">
                <a16:creationId xmlns:a16="http://schemas.microsoft.com/office/drawing/2014/main" id="{093EBDAC-25E7-4E56-932E-1FEACBE0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295900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eb54821b04c02"/>
          <a:stretch xmlns:a="http://schemas.openxmlformats.org/drawingml/2006/main"/>
        </p:blipFill>
        <p:spPr>
          <a:xfrm xmlns:a="http://schemas.openxmlformats.org/drawingml/2006/main">
            <a:off x="6572250" y="2106216"/>
            <a:ext cx="5143500" cy="2893219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label-bg-live application-704-182">
            <a:extLst xmlns:a="http://schemas.openxmlformats.org/drawingml/2006/main">
              <a:ext uri="{FF2B5EF4-FFF2-40B4-BE49-F238E27FC236}">
                <a16:creationId xmlns:a16="http://schemas.microsoft.com/office/drawing/2014/main" id="{E490F31E-6C15-462F-9339-0166E38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335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9" name="label-live application-704-182">
            <a:extLst xmlns:a="http://schemas.openxmlformats.org/drawingml/2006/main">
              <a:ext uri="{FF2B5EF4-FFF2-40B4-BE49-F238E27FC236}">
                <a16:creationId xmlns:a16="http://schemas.microsoft.com/office/drawing/2014/main" id="{D310BA2C-D011-4ABD-8067-DC9109FD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811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LIVE APPLICATION</a:t>
            </a:r>
          </a:p>
        </p:txBody>
      </p:sp>
      <p:sp>
        <p:nvSpPr>
          <p:cNvPr id="10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46909106-3A1F-4707-B266-DCFA9BAC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F5D3A"/>
                </a:solidFill>
              </a:defRPr>
            </a:pPr>
            <a:r>
              <a:rPr sz="1200" b="1" i="0">
                <a:solidFill>
                  <a:srgbClr val="0F5D3A"/>
                </a:solidFill>
              </a:rPr>
              <a:t>THE PROBLEM</a:t>
            </a:r>
          </a:p>
        </p:txBody>
      </p:sp>
      <p:sp>
        <p:nvSpPr>
          <p:cNvPr id="11" name="problem-bullet-1">
            <a:extLst xmlns:a="http://schemas.openxmlformats.org/drawingml/2006/main">
              <a:ext uri="{FF2B5EF4-FFF2-40B4-BE49-F238E27FC236}">
                <a16:creationId xmlns:a16="http://schemas.microsoft.com/office/drawing/2014/main" id="{567B08C8-A121-4469-ABFE-271E7E7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28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text-1">
            <a:extLst xmlns:a="http://schemas.openxmlformats.org/drawingml/2006/main">
              <a:ext uri="{FF2B5EF4-FFF2-40B4-BE49-F238E27FC236}">
                <a16:creationId xmlns:a16="http://schemas.microsoft.com/office/drawing/2014/main" id="{A96566CE-9B1A-4466-B8F0-B2C9F5FB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20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Shopping actions are often fragmented across discovery, saved intent, cart and payment.</a:t>
            </a:r>
          </a:p>
        </p:txBody>
      </p:sp>
      <p:sp>
        <p:nvSpPr>
          <p:cNvPr id="13" name="problem-bullet-2">
            <a:extLst xmlns:a="http://schemas.openxmlformats.org/drawingml/2006/main">
              <a:ext uri="{FF2B5EF4-FFF2-40B4-BE49-F238E27FC236}">
                <a16:creationId xmlns:a16="http://schemas.microsoft.com/office/drawing/2014/main" id="{34510C71-4238-4245-9663-FF144FB5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oblem-text-2">
            <a:extLst xmlns:a="http://schemas.openxmlformats.org/drawingml/2006/main">
              <a:ext uri="{FF2B5EF4-FFF2-40B4-BE49-F238E27FC236}">
                <a16:creationId xmlns:a16="http://schemas.microsoft.com/office/drawing/2014/main" id="{882553A0-7177-4465-9756-9ECC946D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20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Browser values cannot be trusted for identity, stock, totals or payment success.</a:t>
            </a:r>
          </a:p>
        </p:txBody>
      </p:sp>
      <p:sp>
        <p:nvSpPr>
          <p:cNvPr id="15" name="problem-bullet-3">
            <a:extLst xmlns:a="http://schemas.openxmlformats.org/drawingml/2006/main">
              <a:ext uri="{FF2B5EF4-FFF2-40B4-BE49-F238E27FC236}">
                <a16:creationId xmlns:a16="http://schemas.microsoft.com/office/drawing/2014/main" id="{2D44EE9F-5034-46D3-97F5-420FE28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62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text-3">
            <a:extLst xmlns:a="http://schemas.openxmlformats.org/drawingml/2006/main">
              <a:ext uri="{FF2B5EF4-FFF2-40B4-BE49-F238E27FC236}">
                <a16:creationId xmlns:a16="http://schemas.microsoft.com/office/drawing/2014/main" id="{AFFF2B64-8350-4BF1-BA56-1FDD0DAB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520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Administrators need controlled catalogue and user-cart visibility without exposing customer operations.</a:t>
            </a:r>
          </a:p>
        </p:txBody>
      </p:sp>
      <p:sp>
        <p:nvSpPr>
          <p:cNvPr id="17" name="problem-bullet-4">
            <a:extLst xmlns:a="http://schemas.openxmlformats.org/drawingml/2006/main">
              <a:ext uri="{FF2B5EF4-FFF2-40B4-BE49-F238E27FC236}">
                <a16:creationId xmlns:a16="http://schemas.microsoft.com/office/drawing/2014/main" id="{92C90725-5541-4875-959E-81B650AF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text-4">
            <a:extLst xmlns:a="http://schemas.openxmlformats.org/drawingml/2006/main">
              <a:ext uri="{FF2B5EF4-FFF2-40B4-BE49-F238E27FC236}">
                <a16:creationId xmlns:a16="http://schemas.microsoft.com/office/drawing/2014/main" id="{3BF775F0-1AFD-47F4-95DC-794F546D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520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The project needs a traceable path from one click to durable database state and back.</a:t>
            </a:r>
          </a:p>
        </p:txBody>
      </p:sp>
      <p:sp>
        <p:nvSpPr>
          <p:cNvPr id="19" name="solution-band">
            <a:extLst xmlns:a="http://schemas.openxmlformats.org/drawingml/2006/main">
              <a:ext uri="{FF2B5EF4-FFF2-40B4-BE49-F238E27FC236}">
                <a16:creationId xmlns:a16="http://schemas.microsoft.com/office/drawing/2014/main" id="{6EB1E7C2-7937-4243-B6BD-43534A0A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5572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20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F42EC7D1-7473-4FBE-B5FF-845A28DA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F5D3A"/>
                </a:solidFill>
              </a:defRPr>
            </a:pPr>
            <a:r>
              <a:rPr sz="975" b="1" i="0">
                <a:solidFill>
                  <a:srgbClr val="0F5D3A"/>
                </a:solidFill>
              </a:rPr>
              <a:t>IMPLEMENTED RESPONSE</a:t>
            </a:r>
          </a:p>
        </p:txBody>
      </p:sp>
      <p:sp>
        <p:nvSpPr>
          <p:cNvPr id="21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35CD7D42-10CC-4003-B554-847777C2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31B"/>
                </a:solidFill>
              </a:defRPr>
            </a:pPr>
            <a:r>
              <a:rPr sz="1350" b="1" i="0">
                <a:solidFill>
                  <a:srgbClr val="15231B"/>
                </a:solidFill>
              </a:rPr>
              <a:t>A JWT-secured React SPA backed by transactional Spring services and relational persistence.</a:t>
            </a:r>
          </a:p>
        </p:txBody>
      </p:sp>
    </p:spTree>
    <p:extLst>
      <p:ext uri="{BB962C8B-B14F-4D97-AF65-F5344CB8AC3E}">
        <p14:creationId xmlns:p14="http://schemas.microsoft.com/office/powerpoint/2010/main" val="1918273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5D839D49-FC19-48CA-BBD2-B007D26F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SYSTEM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C856DEE-350B-4315-AA18-9D5F3789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A modular monolith with clear request and data boundaries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F614A550-346E-4FD1-9BCC-3F8DA275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5E9DE1B-5210-4B1C-8745-3408A234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5CC49F32-1FC6-4EF4-8476-1405D5BC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03</a:t>
            </a:r>
          </a:p>
        </p:txBody>
      </p:sp>
      <p:sp>
        <p:nvSpPr>
          <p:cNvPr id="6" name="flow-chevron-1">
            <a:extLst xmlns:a="http://schemas.openxmlformats.org/drawingml/2006/main">
              <a:ext uri="{FF2B5EF4-FFF2-40B4-BE49-F238E27FC236}">
                <a16:creationId xmlns:a16="http://schemas.microsoft.com/office/drawing/2014/main" id="{6E9AB3F3-2B66-4ACC-B73E-8C83D27B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90825"/>
            <a:ext cx="333375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7" name="flow-chevron-2">
            <a:extLst xmlns:a="http://schemas.openxmlformats.org/drawingml/2006/main">
              <a:ext uri="{FF2B5EF4-FFF2-40B4-BE49-F238E27FC236}">
                <a16:creationId xmlns:a16="http://schemas.microsoft.com/office/drawing/2014/main" id="{D51DA7E8-5158-4B43-944C-03F9BAA6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90825"/>
            <a:ext cx="333375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8" name="flow-chevron-3">
            <a:extLst xmlns:a="http://schemas.openxmlformats.org/drawingml/2006/main">
              <a:ext uri="{FF2B5EF4-FFF2-40B4-BE49-F238E27FC236}">
                <a16:creationId xmlns:a16="http://schemas.microsoft.com/office/drawing/2014/main" id="{875C7801-3CCC-4B6F-A113-F53F3FD4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90825"/>
            <a:ext cx="333375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9" name="flow-chevron-4">
            <a:extLst xmlns:a="http://schemas.openxmlformats.org/drawingml/2006/main">
              <a:ext uri="{FF2B5EF4-FFF2-40B4-BE49-F238E27FC236}">
                <a16:creationId xmlns:a16="http://schemas.microsoft.com/office/drawing/2014/main" id="{F1260AC6-EC35-48BA-9E8C-0F9E0D2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90825"/>
            <a:ext cx="333375" cy="4000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0" name="arch-node-1">
            <a:extLst xmlns:a="http://schemas.openxmlformats.org/drawingml/2006/main">
              <a:ext uri="{FF2B5EF4-FFF2-40B4-BE49-F238E27FC236}">
                <a16:creationId xmlns:a16="http://schemas.microsoft.com/office/drawing/2014/main" id="{35518FB8-95E9-4E75-823C-C265F2F3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2000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11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2185E45F-4FC2-4317-A809-3F1E6D37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5D3A"/>
                </a:solidFill>
              </a:defRPr>
            </a:pPr>
            <a:r>
              <a:rPr sz="1275" b="1" i="0">
                <a:solidFill>
                  <a:srgbClr val="0F5D3A"/>
                </a:solidFill>
              </a:rPr>
              <a:t>REACT SPA</a:t>
            </a:r>
          </a:p>
        </p:txBody>
      </p:sp>
      <p:sp>
        <p:nvSpPr>
          <p:cNvPr id="12" name="arch-body-1">
            <a:extLst xmlns:a="http://schemas.openxmlformats.org/drawingml/2006/main">
              <a:ext uri="{FF2B5EF4-FFF2-40B4-BE49-F238E27FC236}">
                <a16:creationId xmlns:a16="http://schemas.microsoft.com/office/drawing/2014/main" id="{0EE552B1-0D82-42C0-9AA4-FC103BE9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2645A"/>
                </a:solidFill>
              </a:defRPr>
            </a:pPr>
            <a:r>
              <a:rPr sz="1050" b="0" i="0">
                <a:solidFill>
                  <a:srgbClr val="52645A"/>
                </a:solidFill>
              </a:rPr>
              <a:t>Pages • Context • Hooks</a:t>
            </a:r>
          </a:p>
        </p:txBody>
      </p:sp>
      <p:sp>
        <p:nvSpPr>
          <p:cNvPr id="13" name="arch-node-2">
            <a:extLst xmlns:a="http://schemas.openxmlformats.org/drawingml/2006/main">
              <a:ext uri="{FF2B5EF4-FFF2-40B4-BE49-F238E27FC236}">
                <a16:creationId xmlns:a16="http://schemas.microsoft.com/office/drawing/2014/main" id="{AF06E121-259F-4F3F-9F2A-3FD4C6EF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43150"/>
            <a:ext cx="2000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14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C4C7E586-7D29-4A0E-A0F6-A91267F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5D3A"/>
                </a:solidFill>
              </a:defRPr>
            </a:pPr>
            <a:r>
              <a:rPr sz="1275" b="1" i="0">
                <a:solidFill>
                  <a:srgbClr val="0F5D3A"/>
                </a:solidFill>
              </a:rPr>
              <a:t>AXIOS + JWT</a:t>
            </a:r>
          </a:p>
        </p:txBody>
      </p:sp>
      <p:sp>
        <p:nvSpPr>
          <p:cNvPr id="15" name="arch-body-2">
            <a:extLst xmlns:a="http://schemas.openxmlformats.org/drawingml/2006/main">
              <a:ext uri="{FF2B5EF4-FFF2-40B4-BE49-F238E27FC236}">
                <a16:creationId xmlns:a16="http://schemas.microsoft.com/office/drawing/2014/main" id="{69147B8B-8A65-4084-96A8-4FED4C6E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62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2645A"/>
                </a:solidFill>
              </a:defRPr>
            </a:pPr>
            <a:r>
              <a:rPr sz="1050" b="0" i="0">
                <a:solidFill>
                  <a:srgbClr val="52645A"/>
                </a:solidFill>
              </a:rPr>
              <a:t>REST calls • Bearer token</a:t>
            </a:r>
          </a:p>
        </p:txBody>
      </p:sp>
      <p:sp>
        <p:nvSpPr>
          <p:cNvPr id="16" name="arch-node-3">
            <a:extLst xmlns:a="http://schemas.openxmlformats.org/drawingml/2006/main">
              <a:ext uri="{FF2B5EF4-FFF2-40B4-BE49-F238E27FC236}">
                <a16:creationId xmlns:a16="http://schemas.microsoft.com/office/drawing/2014/main" id="{EFE6035D-9190-473B-8545-5040EEDC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43150"/>
            <a:ext cx="2000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9525">
            <a:solidFill>
              <a:srgbClr val="083B27"/>
            </a:solidFill>
            <a:prstDash val="solid"/>
          </a:ln>
        </p:spPr>
      </p:sp>
      <p:sp>
        <p:nvSpPr>
          <p:cNvPr id="17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77E33380-5C33-4719-9063-D6BC06E4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SPRING BOOT</a:t>
            </a:r>
          </a:p>
        </p:txBody>
      </p:sp>
      <p:sp>
        <p:nvSpPr>
          <p:cNvPr id="18" name="arch-body-3">
            <a:extLst xmlns:a="http://schemas.openxmlformats.org/drawingml/2006/main">
              <a:ext uri="{FF2B5EF4-FFF2-40B4-BE49-F238E27FC236}">
                <a16:creationId xmlns:a16="http://schemas.microsoft.com/office/drawing/2014/main" id="{1FD3D533-89E7-420A-9C1D-05D5C393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62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D8ECDF"/>
                </a:solidFill>
              </a:defRPr>
            </a:pPr>
            <a:r>
              <a:rPr sz="1050" b="0" i="0">
                <a:solidFill>
                  <a:srgbClr val="D8ECDF"/>
                </a:solidFill>
              </a:rPr>
              <a:t>Security • Controllers • Services</a:t>
            </a:r>
          </a:p>
        </p:txBody>
      </p:sp>
      <p:sp>
        <p:nvSpPr>
          <p:cNvPr id="19" name="arch-node-4">
            <a:extLst xmlns:a="http://schemas.openxmlformats.org/drawingml/2006/main">
              <a:ext uri="{FF2B5EF4-FFF2-40B4-BE49-F238E27FC236}">
                <a16:creationId xmlns:a16="http://schemas.microsoft.com/office/drawing/2014/main" id="{71150FC8-3B9C-478A-81A1-289462E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43150"/>
            <a:ext cx="2000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20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0E96A1D4-8790-4CB0-8457-48231F9D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5D3A"/>
                </a:solidFill>
              </a:defRPr>
            </a:pPr>
            <a:r>
              <a:rPr sz="1275" b="1" i="0">
                <a:solidFill>
                  <a:srgbClr val="0F5D3A"/>
                </a:solidFill>
              </a:rPr>
              <a:t>JPA / HIBERNATE</a:t>
            </a:r>
          </a:p>
        </p:txBody>
      </p:sp>
      <p:sp>
        <p:nvSpPr>
          <p:cNvPr id="21" name="arch-body-4">
            <a:extLst xmlns:a="http://schemas.openxmlformats.org/drawingml/2006/main">
              <a:ext uri="{FF2B5EF4-FFF2-40B4-BE49-F238E27FC236}">
                <a16:creationId xmlns:a16="http://schemas.microsoft.com/office/drawing/2014/main" id="{A04A60FE-3461-47C8-8B7D-4057F125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2645A"/>
                </a:solidFill>
              </a:defRPr>
            </a:pPr>
            <a:r>
              <a:rPr sz="1050" b="0" i="0">
                <a:solidFill>
                  <a:srgbClr val="52645A"/>
                </a:solidFill>
              </a:rPr>
              <a:t>Repositories • ORM • Locks</a:t>
            </a:r>
          </a:p>
        </p:txBody>
      </p:sp>
      <p:sp>
        <p:nvSpPr>
          <p:cNvPr id="22" name="arch-node-5">
            <a:extLst xmlns:a="http://schemas.openxmlformats.org/drawingml/2006/main">
              <a:ext uri="{FF2B5EF4-FFF2-40B4-BE49-F238E27FC236}">
                <a16:creationId xmlns:a16="http://schemas.microsoft.com/office/drawing/2014/main" id="{16D1C100-393F-41A4-96BC-34C3CCF6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43150"/>
            <a:ext cx="2000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23" name="arch-title-5">
            <a:extLst xmlns:a="http://schemas.openxmlformats.org/drawingml/2006/main">
              <a:ext uri="{FF2B5EF4-FFF2-40B4-BE49-F238E27FC236}">
                <a16:creationId xmlns:a16="http://schemas.microsoft.com/office/drawing/2014/main" id="{D9933DD4-5105-42A6-BAD1-54261153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5D3A"/>
                </a:solidFill>
              </a:defRPr>
            </a:pPr>
            <a:r>
              <a:rPr sz="1275" b="1" i="0">
                <a:solidFill>
                  <a:srgbClr val="0F5D3A"/>
                </a:solidFill>
              </a:rPr>
              <a:t>MYSQL</a:t>
            </a:r>
          </a:p>
        </p:txBody>
      </p:sp>
      <p:sp>
        <p:nvSpPr>
          <p:cNvPr id="24" name="arch-body-5">
            <a:extLst xmlns:a="http://schemas.openxmlformats.org/drawingml/2006/main">
              <a:ext uri="{FF2B5EF4-FFF2-40B4-BE49-F238E27FC236}">
                <a16:creationId xmlns:a16="http://schemas.microsoft.com/office/drawing/2014/main" id="{4C1E4658-115C-44AA-A3E3-648BF820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622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2645A"/>
                </a:solidFill>
              </a:defRPr>
            </a:pPr>
            <a:r>
              <a:rPr sz="1050" b="0" i="0">
                <a:solidFill>
                  <a:srgbClr val="52645A"/>
                </a:solidFill>
              </a:rPr>
              <a:t>8 relational tables • constraints</a:t>
            </a:r>
          </a:p>
        </p:txBody>
      </p:sp>
      <p:sp>
        <p:nvSpPr>
          <p:cNvPr id="25" name="arch-external-label">
            <a:extLst xmlns:a="http://schemas.openxmlformats.org/drawingml/2006/main">
              <a:ext uri="{FF2B5EF4-FFF2-40B4-BE49-F238E27FC236}">
                <a16:creationId xmlns:a16="http://schemas.microsoft.com/office/drawing/2014/main" id="{CB38A432-CCFE-48E2-B287-B8EB33CD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EXTERNAL ADAPTERS</a:t>
            </a:r>
          </a:p>
        </p:txBody>
      </p:sp>
      <p:sp>
        <p:nvSpPr>
          <p:cNvPr id="26" name="adapter-1">
            <a:extLst xmlns:a="http://schemas.openxmlformats.org/drawingml/2006/main">
              <a:ext uri="{FF2B5EF4-FFF2-40B4-BE49-F238E27FC236}">
                <a16:creationId xmlns:a16="http://schemas.microsoft.com/office/drawing/2014/main" id="{4EE54880-D91A-446C-B674-CFCCEA41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1428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FD1B5"/>
            </a:solidFill>
            <a:prstDash val="solid"/>
          </a:ln>
        </p:spPr>
      </p:sp>
      <p:sp>
        <p:nvSpPr>
          <p:cNvPr id="27" name="adapter-title-1">
            <a:extLst xmlns:a="http://schemas.openxmlformats.org/drawingml/2006/main">
              <a:ext uri="{FF2B5EF4-FFF2-40B4-BE49-F238E27FC236}">
                <a16:creationId xmlns:a16="http://schemas.microsoft.com/office/drawing/2014/main" id="{728468E7-1618-4E89-ABFF-F2684603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5231B"/>
                </a:solidFill>
              </a:defRPr>
            </a:pPr>
            <a:r>
              <a:rPr sz="975" b="1" i="0">
                <a:solidFill>
                  <a:srgbClr val="15231B"/>
                </a:solidFill>
              </a:rPr>
              <a:t>RAZORPAY</a:t>
            </a:r>
          </a:p>
        </p:txBody>
      </p:sp>
      <p:sp>
        <p:nvSpPr>
          <p:cNvPr id="28" name="adapter-body-1">
            <a:extLst xmlns:a="http://schemas.openxmlformats.org/drawingml/2006/main">
              <a:ext uri="{FF2B5EF4-FFF2-40B4-BE49-F238E27FC236}">
                <a16:creationId xmlns:a16="http://schemas.microsoft.com/office/drawing/2014/main" id="{833CEB58-FF15-4BD9-ADAB-68FEC76E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910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45A"/>
                </a:solidFill>
              </a:defRPr>
            </a:pPr>
            <a:r>
              <a:rPr sz="825" b="0" i="0">
                <a:solidFill>
                  <a:srgbClr val="52645A"/>
                </a:solidFill>
              </a:rPr>
              <a:t>Order + signature</a:t>
            </a:r>
          </a:p>
        </p:txBody>
      </p:sp>
      <p:sp>
        <p:nvSpPr>
          <p:cNvPr id="29" name="adapter-2">
            <a:extLst xmlns:a="http://schemas.openxmlformats.org/drawingml/2006/main">
              <a:ext uri="{FF2B5EF4-FFF2-40B4-BE49-F238E27FC236}">
                <a16:creationId xmlns:a16="http://schemas.microsoft.com/office/drawing/2014/main" id="{A948FBF0-6747-4840-8CC8-1A28C370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91025"/>
            <a:ext cx="1428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FD1B5"/>
            </a:solidFill>
            <a:prstDash val="solid"/>
          </a:ln>
        </p:spPr>
      </p:sp>
      <p:sp>
        <p:nvSpPr>
          <p:cNvPr id="30" name="adapter-title-2">
            <a:extLst xmlns:a="http://schemas.openxmlformats.org/drawingml/2006/main">
              <a:ext uri="{FF2B5EF4-FFF2-40B4-BE49-F238E27FC236}">
                <a16:creationId xmlns:a16="http://schemas.microsoft.com/office/drawing/2014/main" id="{1A33F011-4CA1-4EA2-A387-82C80E3B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33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5231B"/>
                </a:solidFill>
              </a:defRPr>
            </a:pPr>
            <a:r>
              <a:rPr sz="975" b="1" i="0">
                <a:solidFill>
                  <a:srgbClr val="15231B"/>
                </a:solidFill>
              </a:rPr>
              <a:t>GMAIL SMTP</a:t>
            </a:r>
          </a:p>
        </p:txBody>
      </p:sp>
      <p:sp>
        <p:nvSpPr>
          <p:cNvPr id="31" name="adapter-body-2">
            <a:extLst xmlns:a="http://schemas.openxmlformats.org/drawingml/2006/main">
              <a:ext uri="{FF2B5EF4-FFF2-40B4-BE49-F238E27FC236}">
                <a16:creationId xmlns:a16="http://schemas.microsoft.com/office/drawing/2014/main" id="{82DCFCE1-9261-4863-9DF4-0FADC1D9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910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45A"/>
                </a:solidFill>
              </a:defRPr>
            </a:pPr>
            <a:r>
              <a:rPr sz="825" b="0" i="0">
                <a:solidFill>
                  <a:srgbClr val="52645A"/>
                </a:solidFill>
              </a:rPr>
              <a:t>Reset link</a:t>
            </a:r>
          </a:p>
        </p:txBody>
      </p:sp>
      <p:sp>
        <p:nvSpPr>
          <p:cNvPr id="32" name="adapter-3">
            <a:extLst xmlns:a="http://schemas.openxmlformats.org/drawingml/2006/main">
              <a:ext uri="{FF2B5EF4-FFF2-40B4-BE49-F238E27FC236}">
                <a16:creationId xmlns:a16="http://schemas.microsoft.com/office/drawing/2014/main" id="{6A33F3F1-BA36-46C5-ADF0-237C1A9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91025"/>
            <a:ext cx="1428750" cy="714375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0E7"/>
          </a:solidFill>
          <a:ln xmlns:a="http://schemas.openxmlformats.org/drawingml/2006/main" w="9525">
            <a:solidFill>
              <a:srgbClr val="FFD1B5"/>
            </a:solidFill>
            <a:prstDash val="solid"/>
          </a:ln>
        </p:spPr>
      </p:sp>
      <p:sp>
        <p:nvSpPr>
          <p:cNvPr id="33" name="adapter-title-3">
            <a:extLst xmlns:a="http://schemas.openxmlformats.org/drawingml/2006/main">
              <a:ext uri="{FF2B5EF4-FFF2-40B4-BE49-F238E27FC236}">
                <a16:creationId xmlns:a16="http://schemas.microsoft.com/office/drawing/2014/main" id="{BF3C542D-85BB-42C3-9087-EB4CFD80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3390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5231B"/>
                </a:solidFill>
              </a:defRPr>
            </a:pPr>
            <a:r>
              <a:rPr sz="975" b="1" i="0">
                <a:solidFill>
                  <a:srgbClr val="15231B"/>
                </a:solidFill>
              </a:rPr>
              <a:t>FILE STORAGE</a:t>
            </a:r>
          </a:p>
        </p:txBody>
      </p:sp>
      <p:sp>
        <p:nvSpPr>
          <p:cNvPr id="34" name="adapter-body-3">
            <a:extLst xmlns:a="http://schemas.openxmlformats.org/drawingml/2006/main">
              <a:ext uri="{FF2B5EF4-FFF2-40B4-BE49-F238E27FC236}">
                <a16:creationId xmlns:a16="http://schemas.microsoft.com/office/drawing/2014/main" id="{FDFBC2A0-75A7-4345-A771-28DFB011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910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52645A"/>
                </a:solidFill>
              </a:defRPr>
            </a:pPr>
            <a:r>
              <a:rPr sz="825" b="0" i="0">
                <a:solidFill>
                  <a:srgbClr val="52645A"/>
                </a:solidFill>
              </a:rPr>
              <a:t>Review images</a:t>
            </a:r>
          </a:p>
        </p:txBody>
      </p:sp>
      <p:sp>
        <p:nvSpPr>
          <p:cNvPr id="35" name="arch-points-bullet-1">
            <a:extLst xmlns:a="http://schemas.openxmlformats.org/drawingml/2006/main">
              <a:ext uri="{FF2B5EF4-FFF2-40B4-BE49-F238E27FC236}">
                <a16:creationId xmlns:a16="http://schemas.microsoft.com/office/drawing/2014/main" id="{B41BE66C-7E86-474C-AFA5-1E9FF4DA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53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arch-points-text-1">
            <a:extLst xmlns:a="http://schemas.openxmlformats.org/drawingml/2006/main">
              <a:ext uri="{FF2B5EF4-FFF2-40B4-BE49-F238E27FC236}">
                <a16:creationId xmlns:a16="http://schemas.microsoft.com/office/drawing/2014/main" id="{B4ED4E34-F9FE-4AE3-9C85-B9F987D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76875"/>
            <a:ext cx="1015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Controller → service → repository separation keeps transport, business rules and persistence distinct.</a:t>
            </a:r>
          </a:p>
        </p:txBody>
      </p:sp>
      <p:sp>
        <p:nvSpPr>
          <p:cNvPr id="37" name="arch-points-bullet-2">
            <a:extLst xmlns:a="http://schemas.openxmlformats.org/drawingml/2006/main">
              <a:ext uri="{FF2B5EF4-FFF2-40B4-BE49-F238E27FC236}">
                <a16:creationId xmlns:a16="http://schemas.microsoft.com/office/drawing/2014/main" id="{3B413FBB-FE63-419E-BC61-08A7AB10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ch-points-text-2">
            <a:extLst xmlns:a="http://schemas.openxmlformats.org/drawingml/2006/main">
              <a:ext uri="{FF2B5EF4-FFF2-40B4-BE49-F238E27FC236}">
                <a16:creationId xmlns:a16="http://schemas.microsoft.com/office/drawing/2014/main" id="{73974139-81BD-41DC-BAF5-E05A387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15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DTO validation defines API contracts; MySQL constraints remain the final integrity boundary.</a:t>
            </a:r>
          </a:p>
        </p:txBody>
      </p:sp>
      <p:sp>
        <p:nvSpPr>
          <p:cNvPr id="39" name="arch-points-bullet-3">
            <a:extLst xmlns:a="http://schemas.openxmlformats.org/drawingml/2006/main">
              <a:ext uri="{FF2B5EF4-FFF2-40B4-BE49-F238E27FC236}">
                <a16:creationId xmlns:a16="http://schemas.microsoft.com/office/drawing/2014/main" id="{53586BA4-9501-4820-BA9C-2F73138E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rch-points-text-3">
            <a:extLst xmlns:a="http://schemas.openxmlformats.org/drawingml/2006/main">
              <a:ext uri="{FF2B5EF4-FFF2-40B4-BE49-F238E27FC236}">
                <a16:creationId xmlns:a16="http://schemas.microsoft.com/office/drawing/2014/main" id="{7F61D749-8077-4428-92D9-991F74AA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67425"/>
            <a:ext cx="1015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React owns interaction state; the backend owns roles, stock, totals, payment status and durable records.</a:t>
            </a:r>
          </a:p>
        </p:txBody>
      </p:sp>
    </p:spTree>
    <p:extLst>
      <p:ext uri="{BB962C8B-B14F-4D97-AF65-F5344CB8AC3E}">
        <p14:creationId xmlns:p14="http://schemas.microsoft.com/office/powerpoint/2010/main" val="892595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0EBC0A72-FBFE-472E-8930-F1C94F7A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IDENTITY AND SECURITY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DC7BDFD-44D5-40D9-8EFA-3A432193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Authentication is stateless; authorization remains server-enforced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425DABA9-D88F-42A6-AD6A-02CDF072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A6144838-24B8-473B-B8D9-75D66711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A0CCF542-E98B-4C28-9E37-F2F092F9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04</a:t>
            </a:r>
          </a:p>
        </p:txBody>
      </p:sp>
      <p:sp>
        <p:nvSpPr>
          <p:cNvPr id="6" name="profile-frame">
            <a:extLst xmlns:a="http://schemas.openxmlformats.org/drawingml/2006/main">
              <a:ext uri="{FF2B5EF4-FFF2-40B4-BE49-F238E27FC236}">
                <a16:creationId xmlns:a16="http://schemas.microsoft.com/office/drawing/2014/main" id="{B313B0B3-5CD3-4887-BA4E-8C14D0EB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85900"/>
            <a:ext cx="558165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dfe1b31eb46a2"/>
          <a:srcRect xmlns:a="http://schemas.openxmlformats.org/drawingml/2006/main" l="14033" t="0" r="14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1562100"/>
            <a:ext cx="5429250" cy="424815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8" name="label-bg-profile &amp; role-676-180">
            <a:extLst xmlns:a="http://schemas.openxmlformats.org/drawingml/2006/main">
              <a:ext uri="{FF2B5EF4-FFF2-40B4-BE49-F238E27FC236}">
                <a16:creationId xmlns:a16="http://schemas.microsoft.com/office/drawing/2014/main" id="{1BACC9FF-7EA9-42D4-9973-3CDB73A6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9" name="label-profile &amp; role-676-180">
            <a:extLst xmlns:a="http://schemas.openxmlformats.org/drawingml/2006/main">
              <a:ext uri="{FF2B5EF4-FFF2-40B4-BE49-F238E27FC236}">
                <a16:creationId xmlns:a16="http://schemas.microsoft.com/office/drawing/2014/main" id="{AB62AEF5-1235-4C2A-B9F0-A6D870DE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6212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PROFILE &amp; ROLE</a:t>
            </a:r>
          </a:p>
        </p:txBody>
      </p:sp>
      <p:sp>
        <p:nvSpPr>
          <p:cNvPr id="10" name="auth-flow">
            <a:extLst xmlns:a="http://schemas.openxmlformats.org/drawingml/2006/main">
              <a:ext uri="{FF2B5EF4-FFF2-40B4-BE49-F238E27FC236}">
                <a16:creationId xmlns:a16="http://schemas.microsoft.com/office/drawing/2014/main" id="{30AB1212-1B7D-4845-8214-F5C02E28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F5D3A"/>
                </a:solidFill>
              </a:defRPr>
            </a:pPr>
            <a:r>
              <a:rPr sz="1125" b="1" i="0">
                <a:solidFill>
                  <a:srgbClr val="0F5D3A"/>
                </a:solidFill>
              </a:rPr>
              <a:t>REGISTER / LOGIN</a:t>
            </a:r>
          </a:p>
        </p:txBody>
      </p:sp>
      <p:sp>
        <p:nvSpPr>
          <p:cNvPr id="11" name="auth-flow-detail">
            <a:extLst xmlns:a="http://schemas.openxmlformats.org/drawingml/2006/main">
              <a:ext uri="{FF2B5EF4-FFF2-40B4-BE49-F238E27FC236}">
                <a16:creationId xmlns:a16="http://schemas.microsoft.com/office/drawing/2014/main" id="{C6E3636D-76C7-4AC8-8D2D-1F215917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231B"/>
                </a:solidFill>
              </a:defRPr>
            </a:pPr>
            <a:r>
              <a:rPr sz="1650" b="1" i="0">
                <a:solidFill>
                  <a:srgbClr val="15231B"/>
                </a:solidFill>
              </a:rPr>
              <a:t>Validate → BCrypt → AuthenticationManager → signed 24-hour JWT</a:t>
            </a:r>
          </a:p>
        </p:txBody>
      </p:sp>
      <p:sp>
        <p:nvSpPr>
          <p:cNvPr id="12" name="auth-bullet-1">
            <a:extLst xmlns:a="http://schemas.openxmlformats.org/drawingml/2006/main">
              <a:ext uri="{FF2B5EF4-FFF2-40B4-BE49-F238E27FC236}">
                <a16:creationId xmlns:a16="http://schemas.microsoft.com/office/drawing/2014/main" id="{487CB4ED-7E23-47AF-A41B-074CAC7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uth-text-1">
            <a:extLst xmlns:a="http://schemas.openxmlformats.org/drawingml/2006/main">
              <a:ext uri="{FF2B5EF4-FFF2-40B4-BE49-F238E27FC236}">
                <a16:creationId xmlns:a16="http://schemas.microsoft.com/office/drawing/2014/main" id="{959A1C95-D486-4AB6-9887-AF1B2E2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057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Axios attaches the Bearer token; JwtFilter validates signature and expiry before protected controllers.</a:t>
            </a:r>
          </a:p>
        </p:txBody>
      </p:sp>
      <p:sp>
        <p:nvSpPr>
          <p:cNvPr id="14" name="auth-bullet-2">
            <a:extLst xmlns:a="http://schemas.openxmlformats.org/drawingml/2006/main">
              <a:ext uri="{FF2B5EF4-FFF2-40B4-BE49-F238E27FC236}">
                <a16:creationId xmlns:a16="http://schemas.microsoft.com/office/drawing/2014/main" id="{F7B10FF8-62A7-4B85-B712-2CBE3E12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uth-text-2">
            <a:extLst xmlns:a="http://schemas.openxmlformats.org/drawingml/2006/main">
              <a:ext uri="{FF2B5EF4-FFF2-40B4-BE49-F238E27FC236}">
                <a16:creationId xmlns:a16="http://schemas.microsoft.com/office/drawing/2014/main" id="{FB1E00F6-BC58-4DBF-815C-DC9F5165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057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The current role is reloaded from MySQL as ROLE_USER or ROLE_ADMIN on every authenticated request.</a:t>
            </a:r>
          </a:p>
        </p:txBody>
      </p:sp>
      <p:sp>
        <p:nvSpPr>
          <p:cNvPr id="16" name="auth-bullet-3">
            <a:extLst xmlns:a="http://schemas.openxmlformats.org/drawingml/2006/main">
              <a:ext uri="{FF2B5EF4-FFF2-40B4-BE49-F238E27FC236}">
                <a16:creationId xmlns:a16="http://schemas.microsoft.com/office/drawing/2014/main" id="{F14752BF-B308-4C68-A3D6-58D905B8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uth-text-3">
            <a:extLst xmlns:a="http://schemas.openxmlformats.org/drawingml/2006/main">
              <a:ext uri="{FF2B5EF4-FFF2-40B4-BE49-F238E27FC236}">
                <a16:creationId xmlns:a16="http://schemas.microsoft.com/office/drawing/2014/main" id="{4FF94EF7-5CE5-4A6D-BAD5-CFBF4D8C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5057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Forgot-password stores only a SHA-256 token digest, expires after 30 minutes and is single-use.</a:t>
            </a:r>
          </a:p>
        </p:txBody>
      </p:sp>
      <p:sp>
        <p:nvSpPr>
          <p:cNvPr id="18" name="auth-bullet-4">
            <a:extLst xmlns:a="http://schemas.openxmlformats.org/drawingml/2006/main">
              <a:ext uri="{FF2B5EF4-FFF2-40B4-BE49-F238E27FC236}">
                <a16:creationId xmlns:a16="http://schemas.microsoft.com/office/drawing/2014/main" id="{994694AB-B356-4B90-ABB1-38E40EE8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52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uth-text-4">
            <a:extLst xmlns:a="http://schemas.openxmlformats.org/drawingml/2006/main">
              <a:ext uri="{FF2B5EF4-FFF2-40B4-BE49-F238E27FC236}">
                <a16:creationId xmlns:a16="http://schemas.microsoft.com/office/drawing/2014/main" id="{5D0B4B9F-E24D-4253-B8A3-A79741D2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50577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Profile email changes issue a new JWT because the token subject is the user's email.</a:t>
            </a:r>
          </a:p>
        </p:txBody>
      </p:sp>
      <p:sp>
        <p:nvSpPr>
          <p:cNvPr id="20" name="auth-note">
            <a:extLst xmlns:a="http://schemas.openxmlformats.org/drawingml/2006/main">
              <a:ext uri="{FF2B5EF4-FFF2-40B4-BE49-F238E27FC236}">
                <a16:creationId xmlns:a16="http://schemas.microsoft.com/office/drawing/2014/main" id="{41152032-33A1-4C42-9618-A0C69159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86400"/>
            <a:ext cx="5143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21" name="auth-note-copy">
            <a:extLst xmlns:a="http://schemas.openxmlformats.org/drawingml/2006/main">
              <a:ext uri="{FF2B5EF4-FFF2-40B4-BE49-F238E27FC236}">
                <a16:creationId xmlns:a16="http://schemas.microsoft.com/office/drawing/2014/main" id="{C8E9CA57-91BF-4D3D-A02F-1C7E8457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810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3B27"/>
                </a:solidFill>
              </a:defRPr>
            </a:pPr>
            <a:r>
              <a:rPr sz="1200" b="1" i="0">
                <a:solidFill>
                  <a:srgbClr val="083B27"/>
                </a:solidFill>
              </a:rPr>
              <a:t>Frontend route guards improve UX; Spring Security is the real access-control boundary.</a:t>
            </a:r>
          </a:p>
        </p:txBody>
      </p:sp>
    </p:spTree>
    <p:extLst>
      <p:ext uri="{BB962C8B-B14F-4D97-AF65-F5344CB8AC3E}">
        <p14:creationId xmlns:p14="http://schemas.microsoft.com/office/powerpoint/2010/main" val="1383882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824732AB-F005-4A6A-ACBC-B4F2BC00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PRODUCT DISCOVERY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9B9ECDD-A0A0-4F66-BF29-DEAE87F0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Active catalogue data is enriched with stock and review aggregates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F8180555-1839-43BA-BB0E-A047ACFA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D841EC65-4C0F-47F0-A477-DBDF8746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29E1FC5C-5BF6-4529-A4EC-6398B56E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05</a:t>
            </a:r>
          </a:p>
        </p:txBody>
      </p:sp>
      <p:sp>
        <p:nvSpPr>
          <p:cNvPr id="6" name="products-frame">
            <a:extLst xmlns:a="http://schemas.openxmlformats.org/drawingml/2006/main">
              <a:ext uri="{FF2B5EF4-FFF2-40B4-BE49-F238E27FC236}">
                <a16:creationId xmlns:a16="http://schemas.microsoft.com/office/drawing/2014/main" id="{0FB01E5C-0AE9-426E-AE52-121F08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400175"/>
            <a:ext cx="7058025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7" name="detail-frame">
            <a:extLst xmlns:a="http://schemas.openxmlformats.org/drawingml/2006/main">
              <a:ext uri="{FF2B5EF4-FFF2-40B4-BE49-F238E27FC236}">
                <a16:creationId xmlns:a16="http://schemas.microsoft.com/office/drawing/2014/main" id="{8645DAEC-0D38-4CE2-902F-1762E592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210050"/>
            <a:ext cx="5153025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a1f4dbfac4a89"/>
          <a:srcRect xmlns:a="http://schemas.openxmlformats.org/drawingml/2006/main" l="0" t="16917" r="0" b="169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25" y="1476375"/>
            <a:ext cx="6905625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a3f0d763e44cd"/>
          <a:srcRect xmlns:a="http://schemas.openxmlformats.org/drawingml/2006/main" l="0" t="17850" r="0" b="178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4286250"/>
            <a:ext cx="5000625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0" name="label-bg-catalogue-521-171">
            <a:extLst xmlns:a="http://schemas.openxmlformats.org/drawingml/2006/main">
              <a:ext uri="{FF2B5EF4-FFF2-40B4-BE49-F238E27FC236}">
                <a16:creationId xmlns:a16="http://schemas.microsoft.com/office/drawing/2014/main" id="{DF783EDB-DD2A-4419-822D-24FB1FB2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28775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11" name="label-catalogue-521-171">
            <a:extLst xmlns:a="http://schemas.openxmlformats.org/drawingml/2006/main">
              <a:ext uri="{FF2B5EF4-FFF2-40B4-BE49-F238E27FC236}">
                <a16:creationId xmlns:a16="http://schemas.microsoft.com/office/drawing/2014/main" id="{9E22B5C8-D3A8-4BFA-8E5F-4958CE25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7640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CATALOGUE</a:t>
            </a:r>
          </a:p>
        </p:txBody>
      </p:sp>
      <p:sp>
        <p:nvSpPr>
          <p:cNvPr id="12" name="label-bg-product detail-721-466">
            <a:extLst xmlns:a="http://schemas.openxmlformats.org/drawingml/2006/main">
              <a:ext uri="{FF2B5EF4-FFF2-40B4-BE49-F238E27FC236}">
                <a16:creationId xmlns:a16="http://schemas.microsoft.com/office/drawing/2014/main" id="{47EB6D87-3E1C-4BC3-AC87-F6969373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386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13" name="label-product detail-721-466">
            <a:extLst xmlns:a="http://schemas.openxmlformats.org/drawingml/2006/main">
              <a:ext uri="{FF2B5EF4-FFF2-40B4-BE49-F238E27FC236}">
                <a16:creationId xmlns:a16="http://schemas.microsoft.com/office/drawing/2014/main" id="{ACA8CEC9-AC5C-4CA7-9D3F-DD01A8034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4862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PRODUCT DETAIL</a:t>
            </a:r>
          </a:p>
        </p:txBody>
      </p:sp>
      <p:sp>
        <p:nvSpPr>
          <p:cNvPr id="14" name="catalog-bullet-1">
            <a:extLst xmlns:a="http://schemas.openxmlformats.org/drawingml/2006/main">
              <a:ext uri="{FF2B5EF4-FFF2-40B4-BE49-F238E27FC236}">
                <a16:creationId xmlns:a16="http://schemas.microsoft.com/office/drawing/2014/main" id="{5FD9B075-F39B-4723-8BCE-D245B426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04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talog-text-1">
            <a:extLst xmlns:a="http://schemas.openxmlformats.org/drawingml/2006/main">
              <a:ext uri="{FF2B5EF4-FFF2-40B4-BE49-F238E27FC236}">
                <a16:creationId xmlns:a16="http://schemas.microsoft.com/office/drawing/2014/main" id="{A528C67F-5D7D-489D-A0C3-D6B54804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28775"/>
            <a:ext cx="3629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Customer queries return only products where active = true.</a:t>
            </a:r>
          </a:p>
        </p:txBody>
      </p:sp>
      <p:sp>
        <p:nvSpPr>
          <p:cNvPr id="16" name="catalog-bullet-2">
            <a:extLst xmlns:a="http://schemas.openxmlformats.org/drawingml/2006/main">
              <a:ext uri="{FF2B5EF4-FFF2-40B4-BE49-F238E27FC236}">
                <a16:creationId xmlns:a16="http://schemas.microsoft.com/office/drawing/2014/main" id="{F1857B00-A858-429A-824B-79A581B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86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talog-text-2">
            <a:extLst xmlns:a="http://schemas.openxmlformats.org/drawingml/2006/main">
              <a:ext uri="{FF2B5EF4-FFF2-40B4-BE49-F238E27FC236}">
                <a16:creationId xmlns:a16="http://schemas.microsoft.com/office/drawing/2014/main" id="{1ACB929F-DEC1-4E8A-B29E-C603F047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3629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Search supports keyword, category, both, or neither through one endpoint.</a:t>
            </a:r>
          </a:p>
        </p:txBody>
      </p:sp>
      <p:sp>
        <p:nvSpPr>
          <p:cNvPr id="18" name="catalog-bullet-3">
            <a:extLst xmlns:a="http://schemas.openxmlformats.org/drawingml/2006/main">
              <a:ext uri="{FF2B5EF4-FFF2-40B4-BE49-F238E27FC236}">
                <a16:creationId xmlns:a16="http://schemas.microsoft.com/office/drawing/2014/main" id="{E5449EC8-0242-412B-BDBF-5199DE85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67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talog-text-3">
            <a:extLst xmlns:a="http://schemas.openxmlformats.org/drawingml/2006/main">
              <a:ext uri="{FF2B5EF4-FFF2-40B4-BE49-F238E27FC236}">
                <a16:creationId xmlns:a16="http://schemas.microsoft.com/office/drawing/2014/main" id="{89C8C10C-07FB-43B6-A1D2-EBB661AA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629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ProductResponse adds averageRating and reviewCount without exposing JPA entities.</a:t>
            </a:r>
          </a:p>
        </p:txBody>
      </p:sp>
      <p:sp>
        <p:nvSpPr>
          <p:cNvPr id="20" name="catalog-bullet-4">
            <a:extLst xmlns:a="http://schemas.openxmlformats.org/drawingml/2006/main">
              <a:ext uri="{FF2B5EF4-FFF2-40B4-BE49-F238E27FC236}">
                <a16:creationId xmlns:a16="http://schemas.microsoft.com/office/drawing/2014/main" id="{E2E3C083-7227-4BC4-A462-CE932715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talog-text-4">
            <a:extLst xmlns:a="http://schemas.openxmlformats.org/drawingml/2006/main">
              <a:ext uri="{FF2B5EF4-FFF2-40B4-BE49-F238E27FC236}">
                <a16:creationId xmlns:a16="http://schemas.microsoft.com/office/drawing/2014/main" id="{81BFDF8F-ED4B-4398-8A05-2C4FE36D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3629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The detail screen loads product and reviews concurrently and caps quantity at current stock.</a:t>
            </a:r>
          </a:p>
        </p:txBody>
      </p:sp>
      <p:sp>
        <p:nvSpPr>
          <p:cNvPr id="22" name="catalog-bullet-5">
            <a:extLst xmlns:a="http://schemas.openxmlformats.org/drawingml/2006/main">
              <a:ext uri="{FF2B5EF4-FFF2-40B4-BE49-F238E27FC236}">
                <a16:creationId xmlns:a16="http://schemas.microsoft.com/office/drawing/2014/main" id="{DBE39012-1366-424A-856B-56498F7C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29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talog-text-5">
            <a:extLst xmlns:a="http://schemas.openxmlformats.org/drawingml/2006/main">
              <a:ext uri="{FF2B5EF4-FFF2-40B4-BE49-F238E27FC236}">
                <a16:creationId xmlns:a16="http://schemas.microsoft.com/office/drawing/2014/main" id="{773EDE9C-2285-4616-B22F-2E971EE5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36290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Soft deletion preserves cart, review and order references while hiding the item from customers.</a:t>
            </a:r>
          </a:p>
        </p:txBody>
      </p:sp>
    </p:spTree>
    <p:extLst>
      <p:ext uri="{BB962C8B-B14F-4D97-AF65-F5344CB8AC3E}">
        <p14:creationId xmlns:p14="http://schemas.microsoft.com/office/powerpoint/2010/main" val="1989987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27F5C68A-F429-48B9-87A1-A8989433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WISHLIST AND REVIEWS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52862D9-4F0B-415A-8F60-AF6D3E07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Saved intent and customer feedback are account-linked, persistent features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8AC9E8CF-EC8C-4860-86E5-40D51079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6BCFBEC9-157B-4AF2-B0E6-1AB11EAF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84D3562A-329F-4D70-8515-6F80CF8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06</a:t>
            </a:r>
          </a:p>
        </p:txBody>
      </p:sp>
      <p:sp>
        <p:nvSpPr>
          <p:cNvPr id="6" name="wishlist-frame">
            <a:extLst xmlns:a="http://schemas.openxmlformats.org/drawingml/2006/main">
              <a:ext uri="{FF2B5EF4-FFF2-40B4-BE49-F238E27FC236}">
                <a16:creationId xmlns:a16="http://schemas.microsoft.com/office/drawing/2014/main" id="{20AF0A42-8ADE-46CD-8AFA-3F82712E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4724400" cy="3152775"/>
          </a:xfrm>
          <a:prstGeom xmlns:a="http://schemas.openxmlformats.org/drawingml/2006/main" prst="roundRect">
            <a:avLst>
              <a:gd name="adj" fmla="val 3625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7" name="reviews-frame">
            <a:extLst xmlns:a="http://schemas.openxmlformats.org/drawingml/2006/main">
              <a:ext uri="{FF2B5EF4-FFF2-40B4-BE49-F238E27FC236}">
                <a16:creationId xmlns:a16="http://schemas.microsoft.com/office/drawing/2014/main" id="{D8D0BD60-39FD-4D6C-B35C-E9EE31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90650"/>
            <a:ext cx="6629400" cy="3152775"/>
          </a:xfrm>
          <a:prstGeom xmlns:a="http://schemas.openxmlformats.org/drawingml/2006/main" prst="roundRect">
            <a:avLst>
              <a:gd name="adj" fmla="val 3625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612006ffa4f9f"/>
          <a:srcRect xmlns:a="http://schemas.openxmlformats.org/drawingml/2006/main" l="7117" t="0" r="71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66850"/>
            <a:ext cx="457200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757f6404d498a"/>
          <a:srcRect xmlns:a="http://schemas.openxmlformats.org/drawingml/2006/main" l="0" t="8849" r="0" b="88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0" y="1466850"/>
            <a:ext cx="6477000" cy="3000375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0" name="label-bg-wishlist-64-170">
            <a:extLst xmlns:a="http://schemas.openxmlformats.org/drawingml/2006/main">
              <a:ext uri="{FF2B5EF4-FFF2-40B4-BE49-F238E27FC236}">
                <a16:creationId xmlns:a16="http://schemas.microsoft.com/office/drawing/2014/main" id="{7E737527-7F83-466D-942E-2882DD5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11" name="label-wishlist-64-170">
            <a:extLst xmlns:a="http://schemas.openxmlformats.org/drawingml/2006/main">
              <a:ext uri="{FF2B5EF4-FFF2-40B4-BE49-F238E27FC236}">
                <a16:creationId xmlns:a16="http://schemas.microsoft.com/office/drawing/2014/main" id="{9B96323C-46CD-4715-97FD-413284A2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WISHLIST</a:t>
            </a:r>
          </a:p>
        </p:txBody>
      </p:sp>
      <p:sp>
        <p:nvSpPr>
          <p:cNvPr id="12" name="label-bg-reviews-566-170">
            <a:extLst xmlns:a="http://schemas.openxmlformats.org/drawingml/2006/main">
              <a:ext uri="{FF2B5EF4-FFF2-40B4-BE49-F238E27FC236}">
                <a16:creationId xmlns:a16="http://schemas.microsoft.com/office/drawing/2014/main" id="{A8607886-DBE1-418A-A139-66832AC3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192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13" name="label-reviews-566-170">
            <a:extLst xmlns:a="http://schemas.openxmlformats.org/drawingml/2006/main">
              <a:ext uri="{FF2B5EF4-FFF2-40B4-BE49-F238E27FC236}">
                <a16:creationId xmlns:a16="http://schemas.microsoft.com/office/drawing/2014/main" id="{EFCEFD43-5F64-421B-9A9E-978FC9D8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668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REVIEWS</a:t>
            </a:r>
          </a:p>
        </p:txBody>
      </p:sp>
      <p:sp>
        <p:nvSpPr>
          <p:cNvPr id="14" name="engagement-accent-0">
            <a:extLst xmlns:a="http://schemas.openxmlformats.org/drawingml/2006/main">
              <a:ext uri="{FF2B5EF4-FFF2-40B4-BE49-F238E27FC236}">
                <a16:creationId xmlns:a16="http://schemas.microsoft.com/office/drawing/2014/main" id="{12C812FD-C200-4BBD-A51D-046BFCBC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engagement-title-0">
            <a:extLst xmlns:a="http://schemas.openxmlformats.org/drawingml/2006/main">
              <a:ext uri="{FF2B5EF4-FFF2-40B4-BE49-F238E27FC236}">
                <a16:creationId xmlns:a16="http://schemas.microsoft.com/office/drawing/2014/main" id="{91DBFA1E-956F-4423-8416-F8278EC8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1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3B27"/>
                </a:solidFill>
              </a:defRPr>
            </a:pPr>
            <a:r>
              <a:rPr sz="1050" b="1" i="0">
                <a:solidFill>
                  <a:srgbClr val="083B27"/>
                </a:solidFill>
              </a:rPr>
              <a:t>OPTIMISTIC UI</a:t>
            </a:r>
          </a:p>
        </p:txBody>
      </p:sp>
      <p:sp>
        <p:nvSpPr>
          <p:cNvPr id="16" name="engagement-body-0">
            <a:extLst xmlns:a="http://schemas.openxmlformats.org/drawingml/2006/main">
              <a:ext uri="{FF2B5EF4-FFF2-40B4-BE49-F238E27FC236}">
                <a16:creationId xmlns:a16="http://schemas.microsoft.com/office/drawing/2014/main" id="{6C44A9FE-A168-43C0-80E8-5BC83504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Heart toggles immediately; failure restores the previous Set.</a:t>
            </a:r>
          </a:p>
        </p:txBody>
      </p:sp>
      <p:sp>
        <p:nvSpPr>
          <p:cNvPr id="17" name="engagement-accent-1">
            <a:extLst xmlns:a="http://schemas.openxmlformats.org/drawingml/2006/main">
              <a:ext uri="{FF2B5EF4-FFF2-40B4-BE49-F238E27FC236}">
                <a16:creationId xmlns:a16="http://schemas.microsoft.com/office/drawing/2014/main" id="{2214C46E-5CBE-4AC8-A93F-4CCA4E8C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ngagement-title-1">
            <a:extLst xmlns:a="http://schemas.openxmlformats.org/drawingml/2006/main">
              <a:ext uri="{FF2B5EF4-FFF2-40B4-BE49-F238E27FC236}">
                <a16:creationId xmlns:a16="http://schemas.microsoft.com/office/drawing/2014/main" id="{46F78237-8FAD-4ECB-AD16-36016E39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81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3B27"/>
                </a:solidFill>
              </a:defRPr>
            </a:pPr>
            <a:r>
              <a:rPr sz="1050" b="1" i="0">
                <a:solidFill>
                  <a:srgbClr val="083B27"/>
                </a:solidFill>
              </a:rPr>
              <a:t>UNIQUENESS</a:t>
            </a:r>
          </a:p>
        </p:txBody>
      </p:sp>
      <p:sp>
        <p:nvSpPr>
          <p:cNvPr id="19" name="engagement-body-1">
            <a:extLst xmlns:a="http://schemas.openxmlformats.org/drawingml/2006/main">
              <a:ext uri="{FF2B5EF4-FFF2-40B4-BE49-F238E27FC236}">
                <a16:creationId xmlns:a16="http://schemas.microsoft.com/office/drawing/2014/main" id="{2A5CA32A-90BB-4C35-864C-6BD47CF1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57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One wishlist and one review row per user-product pair.</a:t>
            </a:r>
          </a:p>
        </p:txBody>
      </p:sp>
      <p:sp>
        <p:nvSpPr>
          <p:cNvPr id="20" name="engagement-accent-2">
            <a:extLst xmlns:a="http://schemas.openxmlformats.org/drawingml/2006/main">
              <a:ext uri="{FF2B5EF4-FFF2-40B4-BE49-F238E27FC236}">
                <a16:creationId xmlns:a16="http://schemas.microsoft.com/office/drawing/2014/main" id="{A483D36D-FA91-4D87-906A-56CAB4C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101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engagement-title-2">
            <a:extLst xmlns:a="http://schemas.openxmlformats.org/drawingml/2006/main">
              <a:ext uri="{FF2B5EF4-FFF2-40B4-BE49-F238E27FC236}">
                <a16:creationId xmlns:a16="http://schemas.microsoft.com/office/drawing/2014/main" id="{F740D9B5-6638-4A0E-8E71-5A2EC37D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81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3B27"/>
                </a:solidFill>
              </a:defRPr>
            </a:pPr>
            <a:r>
              <a:rPr sz="1050" b="1" i="0">
                <a:solidFill>
                  <a:srgbClr val="083B27"/>
                </a:solidFill>
              </a:rPr>
              <a:t>REVIEW UPSERT</a:t>
            </a:r>
          </a:p>
        </p:txBody>
      </p:sp>
      <p:sp>
        <p:nvSpPr>
          <p:cNvPr id="22" name="engagement-body-2">
            <a:extLst xmlns:a="http://schemas.openxmlformats.org/drawingml/2006/main">
              <a:ext uri="{FF2B5EF4-FFF2-40B4-BE49-F238E27FC236}">
                <a16:creationId xmlns:a16="http://schemas.microsoft.com/office/drawing/2014/main" id="{0720C953-E02C-4399-98D7-04401E14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Submitting again updates rating, comment and optional image.</a:t>
            </a:r>
          </a:p>
        </p:txBody>
      </p:sp>
      <p:sp>
        <p:nvSpPr>
          <p:cNvPr id="23" name="engagement-accent-3">
            <a:extLst xmlns:a="http://schemas.openxmlformats.org/drawingml/2006/main">
              <a:ext uri="{FF2B5EF4-FFF2-40B4-BE49-F238E27FC236}">
                <a16:creationId xmlns:a16="http://schemas.microsoft.com/office/drawing/2014/main" id="{EF52AC10-2494-4DC4-8DB8-BE999B5A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8101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ngagement-title-3">
            <a:extLst xmlns:a="http://schemas.openxmlformats.org/drawingml/2006/main">
              <a:ext uri="{FF2B5EF4-FFF2-40B4-BE49-F238E27FC236}">
                <a16:creationId xmlns:a16="http://schemas.microsoft.com/office/drawing/2014/main" id="{6813BC6E-78DC-4A48-825C-D2C838D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815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3B27"/>
                </a:solidFill>
              </a:defRPr>
            </a:pPr>
            <a:r>
              <a:rPr sz="1050" b="1" i="0">
                <a:solidFill>
                  <a:srgbClr val="083B27"/>
                </a:solidFill>
              </a:rPr>
              <a:t>MULTIPART + AGGREGATE</a:t>
            </a:r>
          </a:p>
        </p:txBody>
      </p:sp>
      <p:sp>
        <p:nvSpPr>
          <p:cNvPr id="25" name="engagement-body-3">
            <a:extLst xmlns:a="http://schemas.openxmlformats.org/drawingml/2006/main">
              <a:ext uri="{FF2B5EF4-FFF2-40B4-BE49-F238E27FC236}">
                <a16:creationId xmlns:a16="http://schemas.microsoft.com/office/drawing/2014/main" id="{75B46D71-B136-4144-BAF0-A896EC34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578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UUID image storage plus average/count refresh.</a:t>
            </a:r>
          </a:p>
        </p:txBody>
      </p:sp>
    </p:spTree>
    <p:extLst>
      <p:ext uri="{BB962C8B-B14F-4D97-AF65-F5344CB8AC3E}">
        <p14:creationId xmlns:p14="http://schemas.microsoft.com/office/powerpoint/2010/main" val="9380342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147CBB3B-C614-4E05-B536-BA27BE68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CART AND PRICING STATE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5A4231A-3C05-40FE-BB85-4178333E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A persistent, user-owned aggregate bridges discovery and checkout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1998FB31-BDE2-4E16-904D-93AA3CB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05F4AE64-EF7E-44B1-8D11-AA96FD10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955FC17C-A93F-4E2D-AF76-63EC8352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07</a:t>
            </a:r>
          </a:p>
        </p:txBody>
      </p:sp>
      <p:sp>
        <p:nvSpPr>
          <p:cNvPr id="6" name="cart-frame">
            <a:extLst xmlns:a="http://schemas.openxmlformats.org/drawingml/2006/main">
              <a:ext uri="{FF2B5EF4-FFF2-40B4-BE49-F238E27FC236}">
                <a16:creationId xmlns:a16="http://schemas.microsoft.com/office/drawing/2014/main" id="{93265414-24C9-4B8B-B945-E9DCD8BE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90650"/>
            <a:ext cx="6962775" cy="4772025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ac83c931a499e"/>
          <a:srcRect xmlns:a="http://schemas.openxmlformats.org/drawingml/2006/main" l="8512" t="0" r="85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1466850"/>
            <a:ext cx="6810375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8" name="label-bg-persistent cart-531-170">
            <a:extLst xmlns:a="http://schemas.openxmlformats.org/drawingml/2006/main">
              <a:ext uri="{FF2B5EF4-FFF2-40B4-BE49-F238E27FC236}">
                <a16:creationId xmlns:a16="http://schemas.microsoft.com/office/drawing/2014/main" id="{F5BF8456-B65F-4EA1-A9DF-97568C4B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192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9" name="label-persistent cart-531-170">
            <a:extLst xmlns:a="http://schemas.openxmlformats.org/drawingml/2006/main">
              <a:ext uri="{FF2B5EF4-FFF2-40B4-BE49-F238E27FC236}">
                <a16:creationId xmlns:a16="http://schemas.microsoft.com/office/drawing/2014/main" id="{257C9D25-4CEA-4364-B16A-28C848E7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6668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PERSISTENT CART</a:t>
            </a:r>
          </a:p>
        </p:txBody>
      </p:sp>
      <p:sp>
        <p:nvSpPr>
          <p:cNvPr id="10" name="cart-principle">
            <a:extLst xmlns:a="http://schemas.openxmlformats.org/drawingml/2006/main">
              <a:ext uri="{FF2B5EF4-FFF2-40B4-BE49-F238E27FC236}">
                <a16:creationId xmlns:a16="http://schemas.microsoft.com/office/drawing/2014/main" id="{DE0016F2-7233-41AC-AE15-E4DD5915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6B1A"/>
                </a:solidFill>
              </a:defRPr>
            </a:pPr>
            <a:r>
              <a:rPr sz="1050" b="1" i="0">
                <a:solidFill>
                  <a:srgbClr val="FF6B1A"/>
                </a:solidFill>
              </a:rPr>
              <a:t>CORE RULE</a:t>
            </a:r>
          </a:p>
        </p:txBody>
      </p:sp>
      <p:sp>
        <p:nvSpPr>
          <p:cNvPr id="11" name="cart-principle-copy">
            <a:extLst xmlns:a="http://schemas.openxmlformats.org/drawingml/2006/main">
              <a:ext uri="{FF2B5EF4-FFF2-40B4-BE49-F238E27FC236}">
                <a16:creationId xmlns:a16="http://schemas.microsoft.com/office/drawing/2014/main" id="{C519C3D7-D090-4537-9AEF-D04895E0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57375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83B27"/>
                </a:solidFill>
              </a:defRPr>
            </a:pPr>
            <a:r>
              <a:rPr sz="1800" b="1" i="0">
                <a:solidFill>
                  <a:srgbClr val="083B27"/>
                </a:solidFill>
              </a:rPr>
              <a:t>The authenticated user's cart—not a userId in the payload—defines ownership.</a:t>
            </a:r>
          </a:p>
        </p:txBody>
      </p:sp>
      <p:sp>
        <p:nvSpPr>
          <p:cNvPr id="12" name="cart-bullet-1">
            <a:extLst xmlns:a="http://schemas.openxmlformats.org/drawingml/2006/main">
              <a:ext uri="{FF2B5EF4-FFF2-40B4-BE49-F238E27FC236}">
                <a16:creationId xmlns:a16="http://schemas.microsoft.com/office/drawing/2014/main" id="{4B46D135-4D91-4D5D-A491-5A17D7B5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t-text-1">
            <a:extLst xmlns:a="http://schemas.openxmlformats.org/drawingml/2006/main">
              <a:ext uri="{FF2B5EF4-FFF2-40B4-BE49-F238E27FC236}">
                <a16:creationId xmlns:a16="http://schemas.microsoft.com/office/drawing/2014/main" id="{0EFCFBBF-CD40-4B44-A040-8959CD8C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724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One cart per user is created lazily on the first read or add.</a:t>
            </a:r>
          </a:p>
        </p:txBody>
      </p:sp>
      <p:sp>
        <p:nvSpPr>
          <p:cNvPr id="14" name="cart-bullet-2">
            <a:extLst xmlns:a="http://schemas.openxmlformats.org/drawingml/2006/main">
              <a:ext uri="{FF2B5EF4-FFF2-40B4-BE49-F238E27FC236}">
                <a16:creationId xmlns:a16="http://schemas.microsoft.com/office/drawing/2014/main" id="{08F89A5F-11C4-4CC7-B111-B0258BE9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81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t-text-2">
            <a:extLst xmlns:a="http://schemas.openxmlformats.org/drawingml/2006/main">
              <a:ext uri="{FF2B5EF4-FFF2-40B4-BE49-F238E27FC236}">
                <a16:creationId xmlns:a16="http://schemas.microsoft.com/office/drawing/2014/main" id="{43A69656-7808-4D35-9902-FE3386A6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3724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Repeated adds merge quantity and preserve the add-time unit-price snapshot.</a:t>
            </a:r>
          </a:p>
        </p:txBody>
      </p:sp>
      <p:sp>
        <p:nvSpPr>
          <p:cNvPr id="16" name="cart-bullet-3">
            <a:extLst xmlns:a="http://schemas.openxmlformats.org/drawingml/2006/main">
              <a:ext uri="{FF2B5EF4-FFF2-40B4-BE49-F238E27FC236}">
                <a16:creationId xmlns:a16="http://schemas.microsoft.com/office/drawing/2014/main" id="{D35DD7BB-6B48-4F90-A1E4-E1BDC3BC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1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t-text-3">
            <a:extLst xmlns:a="http://schemas.openxmlformats.org/drawingml/2006/main">
              <a:ext uri="{FF2B5EF4-FFF2-40B4-BE49-F238E27FC236}">
                <a16:creationId xmlns:a16="http://schemas.microsoft.com/office/drawing/2014/main" id="{C42BC37E-417D-4E02-9C0F-954020C0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3724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Update and delete verify that the cartItem belongs to the current user's cart.</a:t>
            </a:r>
          </a:p>
        </p:txBody>
      </p:sp>
      <p:sp>
        <p:nvSpPr>
          <p:cNvPr id="18" name="cart-bullet-4">
            <a:extLst xmlns:a="http://schemas.openxmlformats.org/drawingml/2006/main">
              <a:ext uri="{FF2B5EF4-FFF2-40B4-BE49-F238E27FC236}">
                <a16:creationId xmlns:a16="http://schemas.microsoft.com/office/drawing/2014/main" id="{CE17B8A6-72AA-4193-93C6-5F909433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rt-text-4">
            <a:extLst xmlns:a="http://schemas.openxmlformats.org/drawingml/2006/main">
              <a:ext uri="{FF2B5EF4-FFF2-40B4-BE49-F238E27FC236}">
                <a16:creationId xmlns:a16="http://schemas.microsoft.com/office/drawing/2014/main" id="{B3BD837D-373C-4E5F-804C-32B9F60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724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Active state and stock are checked on add/update; quantity ≤ 0 removes the line.</a:t>
            </a:r>
          </a:p>
        </p:txBody>
      </p:sp>
      <p:sp>
        <p:nvSpPr>
          <p:cNvPr id="20" name="cart-bullet-5">
            <a:extLst xmlns:a="http://schemas.openxmlformats.org/drawingml/2006/main">
              <a:ext uri="{FF2B5EF4-FFF2-40B4-BE49-F238E27FC236}">
                <a16:creationId xmlns:a16="http://schemas.microsoft.com/office/drawing/2014/main" id="{A83CD9C3-820C-4071-87E8-A5673202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t-text-5">
            <a:extLst xmlns:a="http://schemas.openxmlformats.org/drawingml/2006/main">
              <a:ext uri="{FF2B5EF4-FFF2-40B4-BE49-F238E27FC236}">
                <a16:creationId xmlns:a16="http://schemas.microsoft.com/office/drawing/2014/main" id="{A75BE9DC-6776-467E-8D2B-FBD92148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37242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The UI previews GST, but checkout recalculates the authoritative total.</a:t>
            </a:r>
          </a:p>
        </p:txBody>
      </p:sp>
    </p:spTree>
    <p:extLst>
      <p:ext uri="{BB962C8B-B14F-4D97-AF65-F5344CB8AC3E}">
        <p14:creationId xmlns:p14="http://schemas.microsoft.com/office/powerpoint/2010/main" val="14326095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29165D56-4F82-418A-8850-A3BC216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CHECKOUT AND PAYMENT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8492ECB-F834-4E23-B9F8-ED1038A0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Order creation locks stock, snapshots history and verifies online payment server-side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40942CAC-B121-4377-898A-EA1F807E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E5B16D06-0254-4920-A97E-BE3926B3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9A122594-16B7-46FC-B528-26705320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08</a:t>
            </a:r>
          </a:p>
        </p:txBody>
      </p:sp>
      <p:sp>
        <p:nvSpPr>
          <p:cNvPr id="6" name="checkout-frame">
            <a:extLst xmlns:a="http://schemas.openxmlformats.org/drawingml/2006/main">
              <a:ext uri="{FF2B5EF4-FFF2-40B4-BE49-F238E27FC236}">
                <a16:creationId xmlns:a16="http://schemas.microsoft.com/office/drawing/2014/main" id="{5A14403B-B859-4223-B4B1-D0DF5D2D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6438900" cy="4676775"/>
          </a:xfrm>
          <a:prstGeom xmlns:a="http://schemas.openxmlformats.org/drawingml/2006/main" prst="roundRect">
            <a:avLst>
              <a:gd name="adj" fmla="val 2444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7" name="order-frame">
            <a:extLst xmlns:a="http://schemas.openxmlformats.org/drawingml/2006/main">
              <a:ext uri="{FF2B5EF4-FFF2-40B4-BE49-F238E27FC236}">
                <a16:creationId xmlns:a16="http://schemas.microsoft.com/office/drawing/2014/main" id="{F986ADE9-C84E-4084-A4AB-A3EDA15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705225"/>
            <a:ext cx="4867275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02d05300840b3"/>
          <a:srcRect xmlns:a="http://schemas.openxmlformats.org/drawingml/2006/main" l="10897" t="0" r="10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66850"/>
            <a:ext cx="6286500" cy="4524375"/>
          </a:xfrm>
          <a:prstGeom xmlns:a="http://schemas.openxmlformats.org/drawingml/2006/main" prst="roundRect">
            <a:avLst>
              <a:gd name="adj" fmla="val 2526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5b6047ad74032"/>
          <a:srcRect xmlns:a="http://schemas.openxmlformats.org/drawingml/2006/main" l="0" t="8365" r="0" b="83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3781425"/>
            <a:ext cx="4714875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10" name="label-bg-checkout-64-170">
            <a:extLst xmlns:a="http://schemas.openxmlformats.org/drawingml/2006/main">
              <a:ext uri="{FF2B5EF4-FFF2-40B4-BE49-F238E27FC236}">
                <a16:creationId xmlns:a16="http://schemas.microsoft.com/office/drawing/2014/main" id="{4536F40E-93F1-41E2-BA91-84D34A21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11" name="label-checkout-64-170">
            <a:extLst xmlns:a="http://schemas.openxmlformats.org/drawingml/2006/main">
              <a:ext uri="{FF2B5EF4-FFF2-40B4-BE49-F238E27FC236}">
                <a16:creationId xmlns:a16="http://schemas.microsoft.com/office/drawing/2014/main" id="{7A1BCEE5-9CBC-46A8-81D5-9E8F73FD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CHECKOUT</a:t>
            </a:r>
          </a:p>
        </p:txBody>
      </p:sp>
      <p:sp>
        <p:nvSpPr>
          <p:cNvPr id="12" name="label-bg-order history-751-413">
            <a:extLst xmlns:a="http://schemas.openxmlformats.org/drawingml/2006/main">
              <a:ext uri="{FF2B5EF4-FFF2-40B4-BE49-F238E27FC236}">
                <a16:creationId xmlns:a16="http://schemas.microsoft.com/office/drawing/2014/main" id="{A9A6A72E-5FE1-4087-B1AC-618E4B6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33825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13" name="label-order history-751-413">
            <a:extLst xmlns:a="http://schemas.openxmlformats.org/drawingml/2006/main">
              <a:ext uri="{FF2B5EF4-FFF2-40B4-BE49-F238E27FC236}">
                <a16:creationId xmlns:a16="http://schemas.microsoft.com/office/drawing/2014/main" id="{78815321-CEFC-4B5D-B4F1-97D3BED0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981450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ORDER HISTORY</a:t>
            </a:r>
          </a:p>
        </p:txBody>
      </p:sp>
      <p:sp>
        <p:nvSpPr>
          <p:cNvPr id="14" name="checkout-bullet-1">
            <a:extLst xmlns:a="http://schemas.openxmlformats.org/drawingml/2006/main">
              <a:ext uri="{FF2B5EF4-FFF2-40B4-BE49-F238E27FC236}">
                <a16:creationId xmlns:a16="http://schemas.microsoft.com/office/drawing/2014/main" id="{3CE23D4E-F0EF-438C-AD1D-4BFFEBBD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47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out-text-1">
            <a:extLst xmlns:a="http://schemas.openxmlformats.org/drawingml/2006/main">
              <a:ext uri="{FF2B5EF4-FFF2-40B4-BE49-F238E27FC236}">
                <a16:creationId xmlns:a16="http://schemas.microsoft.com/office/drawing/2014/main" id="{92973527-9570-4E47-A536-2928C2C7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571625"/>
            <a:ext cx="4200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@Transactional keeps stock decrement, order snapshots and cart clearing atomic.</a:t>
            </a:r>
          </a:p>
        </p:txBody>
      </p:sp>
      <p:sp>
        <p:nvSpPr>
          <p:cNvPr id="16" name="checkout-bullet-2">
            <a:extLst xmlns:a="http://schemas.openxmlformats.org/drawingml/2006/main">
              <a:ext uri="{FF2B5EF4-FFF2-40B4-BE49-F238E27FC236}">
                <a16:creationId xmlns:a16="http://schemas.microsoft.com/office/drawing/2014/main" id="{8C342957-0088-480C-A2D1-A28C43A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66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heckout-text-2">
            <a:extLst xmlns:a="http://schemas.openxmlformats.org/drawingml/2006/main">
              <a:ext uri="{FF2B5EF4-FFF2-40B4-BE49-F238E27FC236}">
                <a16:creationId xmlns:a16="http://schemas.microsoft.com/office/drawing/2014/main" id="{C6C7B2CC-6920-4EEA-A016-5D671C39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90725"/>
            <a:ext cx="4200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PESSIMISTIC_WRITE product locks prevent concurrent overselling.</a:t>
            </a:r>
          </a:p>
        </p:txBody>
      </p:sp>
      <p:sp>
        <p:nvSpPr>
          <p:cNvPr id="18" name="checkout-bullet-3">
            <a:extLst xmlns:a="http://schemas.openxmlformats.org/drawingml/2006/main">
              <a:ext uri="{FF2B5EF4-FFF2-40B4-BE49-F238E27FC236}">
                <a16:creationId xmlns:a16="http://schemas.microsoft.com/office/drawing/2014/main" id="{2EE72FED-16FB-48AC-A0CC-C2D543F1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86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heckout-text-3">
            <a:extLst xmlns:a="http://schemas.openxmlformats.org/drawingml/2006/main">
              <a:ext uri="{FF2B5EF4-FFF2-40B4-BE49-F238E27FC236}">
                <a16:creationId xmlns:a16="http://schemas.microsoft.com/office/drawing/2014/main" id="{8B9A31E8-1197-4484-87A1-75ED33F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09825"/>
            <a:ext cx="4200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BigDecimal calculates subtotal + 18% GST + free delivery on the server.</a:t>
            </a:r>
          </a:p>
        </p:txBody>
      </p:sp>
      <p:sp>
        <p:nvSpPr>
          <p:cNvPr id="20" name="checkout-bullet-4">
            <a:extLst xmlns:a="http://schemas.openxmlformats.org/drawingml/2006/main">
              <a:ext uri="{FF2B5EF4-FFF2-40B4-BE49-F238E27FC236}">
                <a16:creationId xmlns:a16="http://schemas.microsoft.com/office/drawing/2014/main" id="{7305D51F-83C2-4DC0-89CD-8AC7C093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out-text-4">
            <a:extLst xmlns:a="http://schemas.openxmlformats.org/drawingml/2006/main">
              <a:ext uri="{FF2B5EF4-FFF2-40B4-BE49-F238E27FC236}">
                <a16:creationId xmlns:a16="http://schemas.microsoft.com/office/drawing/2014/main" id="{E2AC08BC-DDAD-4631-B7D5-A439F915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28925"/>
            <a:ext cx="4200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COD creates PENDING_COD; online creates PAYMENT_PENDING then verifies the Razorpay signature.</a:t>
            </a:r>
          </a:p>
        </p:txBody>
      </p:sp>
      <p:sp>
        <p:nvSpPr>
          <p:cNvPr id="22" name="checkout-bullet-5">
            <a:extLst xmlns:a="http://schemas.openxmlformats.org/drawingml/2006/main">
              <a:ext uri="{FF2B5EF4-FFF2-40B4-BE49-F238E27FC236}">
                <a16:creationId xmlns:a16="http://schemas.microsoft.com/office/drawing/2014/main" id="{86786566-D593-41FB-ADDE-14C55E7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24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heckout-text-5">
            <a:extLst xmlns:a="http://schemas.openxmlformats.org/drawingml/2006/main">
              <a:ext uri="{FF2B5EF4-FFF2-40B4-BE49-F238E27FC236}">
                <a16:creationId xmlns:a16="http://schemas.microsoft.com/office/drawing/2014/main" id="{4991264C-4431-4600-AF57-37245954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248025"/>
            <a:ext cx="4200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5231B"/>
                </a:solidFill>
              </a:defRPr>
            </a:pPr>
            <a:r>
              <a:rPr sz="1125" b="0" i="0">
                <a:solidFill>
                  <a:srgbClr val="15231B"/>
                </a:solidFill>
              </a:rPr>
              <a:t>Current limitation: cancelled online payment keeps the pending order and reserved stock.</a:t>
            </a:r>
          </a:p>
        </p:txBody>
      </p:sp>
    </p:spTree>
    <p:extLst>
      <p:ext uri="{BB962C8B-B14F-4D97-AF65-F5344CB8AC3E}">
        <p14:creationId xmlns:p14="http://schemas.microsoft.com/office/powerpoint/2010/main" val="14583675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BCF98519-3C56-40BB-9DAC-738E9FA5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ROLE-BASED ADMINISTRATION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918DDFCB-7E59-4ED3-BA0E-C8DCA7AE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Operational control is separated from the customer experience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C32660F4-E721-4438-9951-124ADB45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85085534-BFC1-4A11-A51A-4F6B1DE1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71CACD4E-DD9C-4806-8D8F-86934537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09</a:t>
            </a:r>
          </a:p>
        </p:txBody>
      </p:sp>
      <p:sp>
        <p:nvSpPr>
          <p:cNvPr id="6" name="admin-frame">
            <a:extLst xmlns:a="http://schemas.openxmlformats.org/drawingml/2006/main">
              <a:ext uri="{FF2B5EF4-FFF2-40B4-BE49-F238E27FC236}">
                <a16:creationId xmlns:a16="http://schemas.microsoft.com/office/drawing/2014/main" id="{BBD9AB36-A599-4F22-932C-6C974ABF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90650"/>
            <a:ext cx="7486650" cy="4772025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c1b6ee6bf4ce3"/>
          <a:srcRect xmlns:a="http://schemas.openxmlformats.org/drawingml/2006/main" l="5320" t="0" r="53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66850"/>
            <a:ext cx="7334250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8" name="label-bg-admin catalogue-64-170">
            <a:extLst xmlns:a="http://schemas.openxmlformats.org/drawingml/2006/main">
              <a:ext uri="{FF2B5EF4-FFF2-40B4-BE49-F238E27FC236}">
                <a16:creationId xmlns:a16="http://schemas.microsoft.com/office/drawing/2014/main" id="{3DD196FC-B912-4CB3-B62E-D397DDB1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40970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9" name="label-admin catalogue-64-170">
            <a:extLst xmlns:a="http://schemas.openxmlformats.org/drawingml/2006/main">
              <a:ext uri="{FF2B5EF4-FFF2-40B4-BE49-F238E27FC236}">
                <a16:creationId xmlns:a16="http://schemas.microsoft.com/office/drawing/2014/main" id="{26B6D5D6-4F34-41DB-AF6A-9A7152E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1219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ADMIN CATALOGUE</a:t>
            </a:r>
          </a:p>
        </p:txBody>
      </p:sp>
      <p:sp>
        <p:nvSpPr>
          <p:cNvPr id="10" name="admin-security">
            <a:extLst xmlns:a="http://schemas.openxmlformats.org/drawingml/2006/main">
              <a:ext uri="{FF2B5EF4-FFF2-40B4-BE49-F238E27FC236}">
                <a16:creationId xmlns:a16="http://schemas.microsoft.com/office/drawing/2014/main" id="{DB7E1268-7843-47BB-B04F-4175C244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5621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6B1A"/>
                </a:solidFill>
              </a:defRPr>
            </a:pPr>
            <a:r>
              <a:rPr sz="1050" b="1" i="0">
                <a:solidFill>
                  <a:srgbClr val="FF6B1A"/>
                </a:solidFill>
              </a:rPr>
              <a:t>SECURITY BOUNDARY</a:t>
            </a:r>
          </a:p>
        </p:txBody>
      </p:sp>
      <p:sp>
        <p:nvSpPr>
          <p:cNvPr id="11" name="admin-security-copy">
            <a:extLst xmlns:a="http://schemas.openxmlformats.org/drawingml/2006/main">
              <a:ext uri="{FF2B5EF4-FFF2-40B4-BE49-F238E27FC236}">
                <a16:creationId xmlns:a16="http://schemas.microsoft.com/office/drawing/2014/main" id="{B6340978-1C4F-4DB4-8866-6B2DD7D8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76425"/>
            <a:ext cx="323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83B27"/>
                </a:solidFill>
              </a:defRPr>
            </a:pPr>
            <a:r>
              <a:rPr sz="1725" b="1" i="0">
                <a:solidFill>
                  <a:srgbClr val="083B27"/>
                </a:solidFill>
              </a:rPr>
              <a:t>/api/admin/** requires ROLE_ADMIN in Spring Security.</a:t>
            </a:r>
          </a:p>
        </p:txBody>
      </p:sp>
      <p:sp>
        <p:nvSpPr>
          <p:cNvPr id="12" name="admin-bullet-1">
            <a:extLst xmlns:a="http://schemas.openxmlformats.org/drawingml/2006/main">
              <a:ext uri="{FF2B5EF4-FFF2-40B4-BE49-F238E27FC236}">
                <a16:creationId xmlns:a16="http://schemas.microsoft.com/office/drawing/2014/main" id="{07E7F988-866B-4C6E-9F30-012F8C39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33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dmin-text-1">
            <a:extLst xmlns:a="http://schemas.openxmlformats.org/drawingml/2006/main">
              <a:ext uri="{FF2B5EF4-FFF2-40B4-BE49-F238E27FC236}">
                <a16:creationId xmlns:a16="http://schemas.microsoft.com/office/drawing/2014/main" id="{A670D962-4E3B-4238-8342-D7C92912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57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View active and inactive products.</a:t>
            </a:r>
          </a:p>
        </p:txBody>
      </p:sp>
      <p:sp>
        <p:nvSpPr>
          <p:cNvPr id="14" name="admin-bullet-2">
            <a:extLst xmlns:a="http://schemas.openxmlformats.org/drawingml/2006/main">
              <a:ext uri="{FF2B5EF4-FFF2-40B4-BE49-F238E27FC236}">
                <a16:creationId xmlns:a16="http://schemas.microsoft.com/office/drawing/2014/main" id="{995FC05C-E50A-4FBD-BD19-38508EA3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dmin-text-2">
            <a:extLst xmlns:a="http://schemas.openxmlformats.org/drawingml/2006/main">
              <a:ext uri="{FF2B5EF4-FFF2-40B4-BE49-F238E27FC236}">
                <a16:creationId xmlns:a16="http://schemas.microsoft.com/office/drawing/2014/main" id="{A6046651-61BE-4681-9BC2-8E39AD4E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Create, update, deactivate and reactivate catalogue items.</a:t>
            </a:r>
          </a:p>
        </p:txBody>
      </p:sp>
      <p:sp>
        <p:nvSpPr>
          <p:cNvPr id="16" name="admin-bullet-3">
            <a:extLst xmlns:a="http://schemas.openxmlformats.org/drawingml/2006/main">
              <a:ext uri="{FF2B5EF4-FFF2-40B4-BE49-F238E27FC236}">
                <a16:creationId xmlns:a16="http://schemas.microsoft.com/office/drawing/2014/main" id="{9B5A9CB0-9306-4303-A7EA-83FDDDB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dmin-text-3">
            <a:extLst xmlns:a="http://schemas.openxmlformats.org/drawingml/2006/main">
              <a:ext uri="{FF2B5EF4-FFF2-40B4-BE49-F238E27FC236}">
                <a16:creationId xmlns:a16="http://schemas.microsoft.com/office/drawing/2014/main" id="{B4811C4E-32E9-4124-B86B-EE62EC90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00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List users while blocking deletion of ADMIN accounts.</a:t>
            </a:r>
          </a:p>
        </p:txBody>
      </p:sp>
      <p:sp>
        <p:nvSpPr>
          <p:cNvPr id="18" name="admin-bullet-4">
            <a:extLst xmlns:a="http://schemas.openxmlformats.org/drawingml/2006/main">
              <a:ext uri="{FF2B5EF4-FFF2-40B4-BE49-F238E27FC236}">
                <a16:creationId xmlns:a16="http://schemas.microsoft.com/office/drawing/2014/main" id="{BC8A417B-1036-41D2-9532-6E0D8AD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dmin-text-4">
            <a:extLst xmlns:a="http://schemas.openxmlformats.org/drawingml/2006/main">
              <a:ext uri="{FF2B5EF4-FFF2-40B4-BE49-F238E27FC236}">
                <a16:creationId xmlns:a16="http://schemas.microsoft.com/office/drawing/2014/main" id="{AF36E5AD-0900-4D5D-A2BE-967310F4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Inspect user carts without exposing a customer-side control path.</a:t>
            </a:r>
          </a:p>
        </p:txBody>
      </p:sp>
      <p:sp>
        <p:nvSpPr>
          <p:cNvPr id="20" name="admin-bullet-5">
            <a:extLst xmlns:a="http://schemas.openxmlformats.org/drawingml/2006/main">
              <a:ext uri="{FF2B5EF4-FFF2-40B4-BE49-F238E27FC236}">
                <a16:creationId xmlns:a16="http://schemas.microsoft.com/office/drawing/2014/main" id="{5DF3BAC4-9D50-45BF-8471-B3D7D6A2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19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dmin-text-5">
            <a:extLst xmlns:a="http://schemas.openxmlformats.org/drawingml/2006/main">
              <a:ext uri="{FF2B5EF4-FFF2-40B4-BE49-F238E27FC236}">
                <a16:creationId xmlns:a16="http://schemas.microsoft.com/office/drawing/2014/main" id="{89CA294B-E63F-4058-B54D-26A48EB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43500"/>
            <a:ext cx="3105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Product removal is soft deletion: active becomes false.</a:t>
            </a:r>
          </a:p>
        </p:txBody>
      </p:sp>
    </p:spTree>
    <p:extLst>
      <p:ext uri="{BB962C8B-B14F-4D97-AF65-F5344CB8AC3E}">
        <p14:creationId xmlns:p14="http://schemas.microsoft.com/office/powerpoint/2010/main" val="29624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D348C4D0-30E2-4253-BE12-85B13E4B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RELATIONAL MODEL AND DATA FLOW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00E34F9-9DA3-4AC9-B3F5-D0FDF9F4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Eight tables protect ownership, uniqueness and historical order state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52E0F16A-9B12-4EEC-A6CD-D3132C61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DECCA55B-0E02-4D23-B8AA-B154F9D7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E5271CA9-06FA-453B-8BB4-8C072DEF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10</a:t>
            </a:r>
          </a:p>
        </p:txBody>
      </p:sp>
      <p:sp>
        <p:nvSpPr>
          <p:cNvPr id="6" name="relation-1">
            <a:extLst xmlns:a="http://schemas.openxmlformats.org/drawingml/2006/main">
              <a:ext uri="{FF2B5EF4-FFF2-40B4-BE49-F238E27FC236}">
                <a16:creationId xmlns:a16="http://schemas.microsoft.com/office/drawing/2014/main" id="{5CC733C6-A923-487C-902D-8C58592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622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7" name="relation-2">
            <a:extLst xmlns:a="http://schemas.openxmlformats.org/drawingml/2006/main">
              <a:ext uri="{FF2B5EF4-FFF2-40B4-BE49-F238E27FC236}">
                <a16:creationId xmlns:a16="http://schemas.microsoft.com/office/drawing/2014/main" id="{8DD61533-E4EF-425E-A65D-7E069E52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622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8" name="relation-3">
            <a:extLst xmlns:a="http://schemas.openxmlformats.org/drawingml/2006/main">
              <a:ext uri="{FF2B5EF4-FFF2-40B4-BE49-F238E27FC236}">
                <a16:creationId xmlns:a16="http://schemas.microsoft.com/office/drawing/2014/main" id="{776D4352-9A0A-4E1E-A1C3-29C15311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9" name="relation-4">
            <a:extLst xmlns:a="http://schemas.openxmlformats.org/drawingml/2006/main">
              <a:ext uri="{FF2B5EF4-FFF2-40B4-BE49-F238E27FC236}">
                <a16:creationId xmlns:a16="http://schemas.microsoft.com/office/drawing/2014/main" id="{794AA2F4-D465-4508-9846-AC38BB42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0" name="relation-5">
            <a:extLst xmlns:a="http://schemas.openxmlformats.org/drawingml/2006/main">
              <a:ext uri="{FF2B5EF4-FFF2-40B4-BE49-F238E27FC236}">
                <a16:creationId xmlns:a16="http://schemas.microsoft.com/office/drawing/2014/main" id="{06B022C8-F514-4136-86A3-8190E5D1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81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1" name="relation-6">
            <a:extLst xmlns:a="http://schemas.openxmlformats.org/drawingml/2006/main">
              <a:ext uri="{FF2B5EF4-FFF2-40B4-BE49-F238E27FC236}">
                <a16:creationId xmlns:a16="http://schemas.microsoft.com/office/drawing/2014/main" id="{2770883E-C31B-44DD-BEBD-4D62709A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8155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2" name="relation-7">
            <a:extLst xmlns:a="http://schemas.openxmlformats.org/drawingml/2006/main">
              <a:ext uri="{FF2B5EF4-FFF2-40B4-BE49-F238E27FC236}">
                <a16:creationId xmlns:a16="http://schemas.microsoft.com/office/drawing/2014/main" id="{10708DBF-3B05-48B1-94D9-78915BA3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388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3" name="relation-8">
            <a:extLst xmlns:a="http://schemas.openxmlformats.org/drawingml/2006/main">
              <a:ext uri="{FF2B5EF4-FFF2-40B4-BE49-F238E27FC236}">
                <a16:creationId xmlns:a16="http://schemas.microsoft.com/office/drawing/2014/main" id="{C7799C43-AA93-4314-B5B0-8B4DD008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638800"/>
            <a:ext cx="78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4" name="user-spine">
            <a:extLst xmlns:a="http://schemas.openxmlformats.org/drawingml/2006/main">
              <a:ext uri="{FF2B5EF4-FFF2-40B4-BE49-F238E27FC236}">
                <a16:creationId xmlns:a16="http://schemas.microsoft.com/office/drawing/2014/main" id="{8E7B3AEE-8143-4791-9368-2E091C0F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3622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5" name="product-spine">
            <a:extLst xmlns:a="http://schemas.openxmlformats.org/drawingml/2006/main">
              <a:ext uri="{FF2B5EF4-FFF2-40B4-BE49-F238E27FC236}">
                <a16:creationId xmlns:a16="http://schemas.microsoft.com/office/drawing/2014/main" id="{1D065623-0D0A-4E93-A63E-E89330F0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362200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solidFill>
              <a:srgbClr val="C8D4CC"/>
            </a:solidFill>
            <a:prstDash val="solid"/>
          </a:ln>
        </p:spPr>
      </p:sp>
      <p:sp>
        <p:nvSpPr>
          <p:cNvPr id="16" name="entity-1">
            <a:extLst xmlns:a="http://schemas.openxmlformats.org/drawingml/2006/main">
              <a:ext uri="{FF2B5EF4-FFF2-40B4-BE49-F238E27FC236}">
                <a16:creationId xmlns:a16="http://schemas.microsoft.com/office/drawing/2014/main" id="{83A3F137-7992-4A25-8201-40E851BB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9525">
            <a:solidFill>
              <a:srgbClr val="083B27"/>
            </a:solidFill>
            <a:prstDash val="solid"/>
          </a:ln>
        </p:spPr>
      </p:sp>
      <p:sp>
        <p:nvSpPr>
          <p:cNvPr id="17" name="entity-title-1">
            <a:extLst xmlns:a="http://schemas.openxmlformats.org/drawingml/2006/main">
              <a:ext uri="{FF2B5EF4-FFF2-40B4-BE49-F238E27FC236}">
                <a16:creationId xmlns:a16="http://schemas.microsoft.com/office/drawing/2014/main" id="{8F60959E-C582-46DD-93B2-6A36937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8" name="entity-body-1">
            <a:extLst xmlns:a="http://schemas.openxmlformats.org/drawingml/2006/main">
              <a:ext uri="{FF2B5EF4-FFF2-40B4-BE49-F238E27FC236}">
                <a16:creationId xmlns:a16="http://schemas.microsoft.com/office/drawing/2014/main" id="{E1CB5C6F-3035-410B-8097-9C062EAD1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8ECDF"/>
                </a:solidFill>
              </a:defRPr>
            </a:pPr>
            <a:r>
              <a:rPr sz="900" b="0" i="0">
                <a:solidFill>
                  <a:srgbClr val="D8ECDF"/>
                </a:solidFill>
              </a:rPr>
              <a:t>identity • role</a:t>
            </a:r>
          </a:p>
        </p:txBody>
      </p:sp>
      <p:sp>
        <p:nvSpPr>
          <p:cNvPr id="19" name="entity-2">
            <a:extLst xmlns:a="http://schemas.openxmlformats.org/drawingml/2006/main">
              <a:ext uri="{FF2B5EF4-FFF2-40B4-BE49-F238E27FC236}">
                <a16:creationId xmlns:a16="http://schemas.microsoft.com/office/drawing/2014/main" id="{BB843353-0ACA-41BF-ADE4-6990B6B1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24050"/>
            <a:ext cx="1390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20" name="entity-title-2">
            <a:extLst xmlns:a="http://schemas.openxmlformats.org/drawingml/2006/main">
              <a:ext uri="{FF2B5EF4-FFF2-40B4-BE49-F238E27FC236}">
                <a16:creationId xmlns:a16="http://schemas.microsoft.com/office/drawing/2014/main" id="{508A956E-1DA2-403E-88A5-40CDE62B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3B27"/>
                </a:solidFill>
              </a:defRPr>
            </a:pPr>
            <a:r>
              <a:rPr sz="1125" b="1" i="0">
                <a:solidFill>
                  <a:srgbClr val="083B27"/>
                </a:solidFill>
              </a:rPr>
              <a:t>CARTS</a:t>
            </a:r>
          </a:p>
        </p:txBody>
      </p:sp>
      <p:sp>
        <p:nvSpPr>
          <p:cNvPr id="21" name="entity-body-2">
            <a:extLst xmlns:a="http://schemas.openxmlformats.org/drawingml/2006/main">
              <a:ext uri="{FF2B5EF4-FFF2-40B4-BE49-F238E27FC236}">
                <a16:creationId xmlns:a16="http://schemas.microsoft.com/office/drawing/2014/main" id="{D458987D-ABDF-40EA-A69F-B6EC0457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45A"/>
                </a:solidFill>
              </a:defRPr>
            </a:pPr>
            <a:r>
              <a:rPr sz="900" b="0" i="0">
                <a:solidFill>
                  <a:srgbClr val="52645A"/>
                </a:solidFill>
              </a:rPr>
              <a:t>1 per user</a:t>
            </a:r>
          </a:p>
        </p:txBody>
      </p:sp>
      <p:sp>
        <p:nvSpPr>
          <p:cNvPr id="22" name="entity-3">
            <a:extLst xmlns:a="http://schemas.openxmlformats.org/drawingml/2006/main">
              <a:ext uri="{FF2B5EF4-FFF2-40B4-BE49-F238E27FC236}">
                <a16:creationId xmlns:a16="http://schemas.microsoft.com/office/drawing/2014/main" id="{C95005DC-325C-4381-A49B-6B8103FA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23" name="entity-title-3">
            <a:extLst xmlns:a="http://schemas.openxmlformats.org/drawingml/2006/main">
              <a:ext uri="{FF2B5EF4-FFF2-40B4-BE49-F238E27FC236}">
                <a16:creationId xmlns:a16="http://schemas.microsoft.com/office/drawing/2014/main" id="{63C44EA8-14C5-44F8-B951-518D554D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955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3B27"/>
                </a:solidFill>
              </a:defRPr>
            </a:pPr>
            <a:r>
              <a:rPr sz="1125" b="1" i="0">
                <a:solidFill>
                  <a:srgbClr val="083B27"/>
                </a:solidFill>
              </a:rPr>
              <a:t>CART ITEMS</a:t>
            </a:r>
          </a:p>
        </p:txBody>
      </p:sp>
      <p:sp>
        <p:nvSpPr>
          <p:cNvPr id="24" name="entity-body-3">
            <a:extLst xmlns:a="http://schemas.openxmlformats.org/drawingml/2006/main">
              <a:ext uri="{FF2B5EF4-FFF2-40B4-BE49-F238E27FC236}">
                <a16:creationId xmlns:a16="http://schemas.microsoft.com/office/drawing/2014/main" id="{EE773DCE-D7C2-4406-9508-92477B5A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9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45A"/>
                </a:solidFill>
              </a:defRPr>
            </a:pPr>
            <a:r>
              <a:rPr sz="900" b="0" i="0">
                <a:solidFill>
                  <a:srgbClr val="52645A"/>
                </a:solidFill>
              </a:rPr>
              <a:t>qty • price</a:t>
            </a:r>
          </a:p>
        </p:txBody>
      </p:sp>
      <p:sp>
        <p:nvSpPr>
          <p:cNvPr id="25" name="entity-4">
            <a:extLst xmlns:a="http://schemas.openxmlformats.org/drawingml/2006/main">
              <a:ext uri="{FF2B5EF4-FFF2-40B4-BE49-F238E27FC236}">
                <a16:creationId xmlns:a16="http://schemas.microsoft.com/office/drawing/2014/main" id="{E487FD95-2D51-40A7-A16C-EFFB618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1390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26" name="entity-title-4">
            <a:extLst xmlns:a="http://schemas.openxmlformats.org/drawingml/2006/main">
              <a:ext uri="{FF2B5EF4-FFF2-40B4-BE49-F238E27FC236}">
                <a16:creationId xmlns:a16="http://schemas.microsoft.com/office/drawing/2014/main" id="{7FBDFCC1-59D4-4A1B-ADD8-A4A06669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05175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3B27"/>
                </a:solidFill>
              </a:defRPr>
            </a:pPr>
            <a:r>
              <a:rPr sz="1125" b="1" i="0">
                <a:solidFill>
                  <a:srgbClr val="083B27"/>
                </a:solidFill>
              </a:rPr>
              <a:t>ORDERS</a:t>
            </a:r>
          </a:p>
        </p:txBody>
      </p:sp>
      <p:sp>
        <p:nvSpPr>
          <p:cNvPr id="27" name="entity-body-4">
            <a:extLst xmlns:a="http://schemas.openxmlformats.org/drawingml/2006/main">
              <a:ext uri="{FF2B5EF4-FFF2-40B4-BE49-F238E27FC236}">
                <a16:creationId xmlns:a16="http://schemas.microsoft.com/office/drawing/2014/main" id="{0D282A0F-7453-44AD-BBE8-D2ACB5F6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45A"/>
                </a:solidFill>
              </a:defRPr>
            </a:pPr>
            <a:r>
              <a:rPr sz="900" b="0" i="0">
                <a:solidFill>
                  <a:srgbClr val="52645A"/>
                </a:solidFill>
              </a:rPr>
              <a:t>status • totals</a:t>
            </a:r>
          </a:p>
        </p:txBody>
      </p:sp>
      <p:sp>
        <p:nvSpPr>
          <p:cNvPr id="28" name="entity-5">
            <a:extLst xmlns:a="http://schemas.openxmlformats.org/drawingml/2006/main">
              <a:ext uri="{FF2B5EF4-FFF2-40B4-BE49-F238E27FC236}">
                <a16:creationId xmlns:a16="http://schemas.microsoft.com/office/drawing/2014/main" id="{BC867224-CCE6-4F4A-8C79-3CB01FCE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29" name="entity-title-5">
            <a:extLst xmlns:a="http://schemas.openxmlformats.org/drawingml/2006/main">
              <a:ext uri="{FF2B5EF4-FFF2-40B4-BE49-F238E27FC236}">
                <a16:creationId xmlns:a16="http://schemas.microsoft.com/office/drawing/2014/main" id="{F6F6219F-B23C-43E2-AA5C-C49C29DC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051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3B27"/>
                </a:solidFill>
              </a:defRPr>
            </a:pPr>
            <a:r>
              <a:rPr sz="1125" b="1" i="0">
                <a:solidFill>
                  <a:srgbClr val="083B27"/>
                </a:solidFill>
              </a:rPr>
              <a:t>ORDER ITEMS</a:t>
            </a:r>
          </a:p>
        </p:txBody>
      </p:sp>
      <p:sp>
        <p:nvSpPr>
          <p:cNvPr id="30" name="entity-body-5">
            <a:extLst xmlns:a="http://schemas.openxmlformats.org/drawingml/2006/main">
              <a:ext uri="{FF2B5EF4-FFF2-40B4-BE49-F238E27FC236}">
                <a16:creationId xmlns:a16="http://schemas.microsoft.com/office/drawing/2014/main" id="{04F2227D-8B6F-4B6B-B9A7-CEBBCA53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45A"/>
                </a:solidFill>
              </a:defRPr>
            </a:pPr>
            <a:r>
              <a:rPr sz="900" b="0" i="0">
                <a:solidFill>
                  <a:srgbClr val="52645A"/>
                </a:solidFill>
              </a:rPr>
              <a:t>history snapshot</a:t>
            </a:r>
          </a:p>
        </p:txBody>
      </p:sp>
      <p:sp>
        <p:nvSpPr>
          <p:cNvPr id="31" name="entity-6">
            <a:extLst xmlns:a="http://schemas.openxmlformats.org/drawingml/2006/main">
              <a:ext uri="{FF2B5EF4-FFF2-40B4-BE49-F238E27FC236}">
                <a16:creationId xmlns:a16="http://schemas.microsoft.com/office/drawing/2014/main" id="{7DE5B007-8B11-4711-993D-27088375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343400"/>
            <a:ext cx="1390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32" name="entity-title-6">
            <a:extLst xmlns:a="http://schemas.openxmlformats.org/drawingml/2006/main">
              <a:ext uri="{FF2B5EF4-FFF2-40B4-BE49-F238E27FC236}">
                <a16:creationId xmlns:a16="http://schemas.microsoft.com/office/drawing/2014/main" id="{6786F333-FD33-497E-9495-C3FF97F1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1485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3B27"/>
                </a:solidFill>
              </a:defRPr>
            </a:pPr>
            <a:r>
              <a:rPr sz="1125" b="1" i="0">
                <a:solidFill>
                  <a:srgbClr val="083B27"/>
                </a:solidFill>
              </a:rPr>
              <a:t>WISHLIST</a:t>
            </a:r>
          </a:p>
        </p:txBody>
      </p:sp>
      <p:sp>
        <p:nvSpPr>
          <p:cNvPr id="33" name="entity-body-6">
            <a:extLst xmlns:a="http://schemas.openxmlformats.org/drawingml/2006/main">
              <a:ext uri="{FF2B5EF4-FFF2-40B4-BE49-F238E27FC236}">
                <a16:creationId xmlns:a16="http://schemas.microsoft.com/office/drawing/2014/main" id="{F2699A51-186B-4337-BCD1-10711A8B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291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45A"/>
                </a:solidFill>
              </a:defRPr>
            </a:pPr>
            <a:r>
              <a:rPr sz="900" b="0" i="0">
                <a:solidFill>
                  <a:srgbClr val="52645A"/>
                </a:solidFill>
              </a:rPr>
              <a:t>unique pair</a:t>
            </a:r>
          </a:p>
        </p:txBody>
      </p:sp>
      <p:sp>
        <p:nvSpPr>
          <p:cNvPr id="34" name="entity-7">
            <a:extLst xmlns:a="http://schemas.openxmlformats.org/drawingml/2006/main">
              <a:ext uri="{FF2B5EF4-FFF2-40B4-BE49-F238E27FC236}">
                <a16:creationId xmlns:a16="http://schemas.microsoft.com/office/drawing/2014/main" id="{2763BF23-22B6-4C92-9BD5-482CB614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43400"/>
            <a:ext cx="16192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9525">
            <a:solidFill>
              <a:srgbClr val="083B27"/>
            </a:solidFill>
            <a:prstDash val="solid"/>
          </a:ln>
        </p:spPr>
      </p:sp>
      <p:sp>
        <p:nvSpPr>
          <p:cNvPr id="35" name="entity-title-7">
            <a:extLst xmlns:a="http://schemas.openxmlformats.org/drawingml/2006/main">
              <a:ext uri="{FF2B5EF4-FFF2-40B4-BE49-F238E27FC236}">
                <a16:creationId xmlns:a16="http://schemas.microsoft.com/office/drawing/2014/main" id="{786F1B21-1183-4C8F-9AD9-1968B525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1485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36" name="entity-body-7">
            <a:extLst xmlns:a="http://schemas.openxmlformats.org/drawingml/2006/main">
              <a:ext uri="{FF2B5EF4-FFF2-40B4-BE49-F238E27FC236}">
                <a16:creationId xmlns:a16="http://schemas.microsoft.com/office/drawing/2014/main" id="{FAEBC427-3E4C-4A5A-9D75-89CB46B5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291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D8ECDF"/>
                </a:solidFill>
              </a:defRPr>
            </a:pPr>
            <a:r>
              <a:rPr sz="900" b="0" i="0">
                <a:solidFill>
                  <a:srgbClr val="D8ECDF"/>
                </a:solidFill>
              </a:rPr>
              <a:t>stock • active</a:t>
            </a:r>
          </a:p>
        </p:txBody>
      </p:sp>
      <p:sp>
        <p:nvSpPr>
          <p:cNvPr id="37" name="entity-8">
            <a:extLst xmlns:a="http://schemas.openxmlformats.org/drawingml/2006/main">
              <a:ext uri="{FF2B5EF4-FFF2-40B4-BE49-F238E27FC236}">
                <a16:creationId xmlns:a16="http://schemas.microsoft.com/office/drawing/2014/main" id="{D8DB8CAE-C26F-4908-8FC1-D4E23F7F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00650"/>
            <a:ext cx="13906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9525">
            <a:solidFill>
              <a:srgbClr val="C8D4CC"/>
            </a:solidFill>
            <a:prstDash val="solid"/>
          </a:ln>
        </p:spPr>
      </p:sp>
      <p:sp>
        <p:nvSpPr>
          <p:cNvPr id="38" name="entity-title-8">
            <a:extLst xmlns:a="http://schemas.openxmlformats.org/drawingml/2006/main">
              <a:ext uri="{FF2B5EF4-FFF2-40B4-BE49-F238E27FC236}">
                <a16:creationId xmlns:a16="http://schemas.microsoft.com/office/drawing/2014/main" id="{F367E4D1-A913-4E20-9D86-BAACA88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72100"/>
            <a:ext cx="1162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83B27"/>
                </a:solidFill>
              </a:defRPr>
            </a:pPr>
            <a:r>
              <a:rPr sz="1125" b="1" i="0">
                <a:solidFill>
                  <a:srgbClr val="083B27"/>
                </a:solidFill>
              </a:rPr>
              <a:t>REVIEWS</a:t>
            </a:r>
          </a:p>
        </p:txBody>
      </p:sp>
      <p:sp>
        <p:nvSpPr>
          <p:cNvPr id="39" name="entity-body-8">
            <a:extLst xmlns:a="http://schemas.openxmlformats.org/drawingml/2006/main">
              <a:ext uri="{FF2B5EF4-FFF2-40B4-BE49-F238E27FC236}">
                <a16:creationId xmlns:a16="http://schemas.microsoft.com/office/drawing/2014/main" id="{609FB2A7-C7AE-4DE2-BAE1-CDA3125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864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45A"/>
                </a:solidFill>
              </a:defRPr>
            </a:pPr>
            <a:r>
              <a:rPr sz="900" b="0" i="0">
                <a:solidFill>
                  <a:srgbClr val="52645A"/>
                </a:solidFill>
              </a:rPr>
              <a:t>rating • image</a:t>
            </a:r>
          </a:p>
        </p:txBody>
      </p:sp>
      <p:sp>
        <p:nvSpPr>
          <p:cNvPr id="40" name="db-rules-title">
            <a:extLst xmlns:a="http://schemas.openxmlformats.org/drawingml/2006/main">
              <a:ext uri="{FF2B5EF4-FFF2-40B4-BE49-F238E27FC236}">
                <a16:creationId xmlns:a16="http://schemas.microsoft.com/office/drawing/2014/main" id="{9EABDD65-0350-4EA5-8649-F1908E43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6B1A"/>
                </a:solidFill>
              </a:defRPr>
            </a:pPr>
            <a:r>
              <a:rPr sz="1050" b="1" i="0">
                <a:solidFill>
                  <a:srgbClr val="FF6B1A"/>
                </a:solidFill>
              </a:rPr>
              <a:t>DATABASE RULES</a:t>
            </a:r>
          </a:p>
        </p:txBody>
      </p:sp>
      <p:sp>
        <p:nvSpPr>
          <p:cNvPr id="41" name="db-bullet-1">
            <a:extLst xmlns:a="http://schemas.openxmlformats.org/drawingml/2006/main">
              <a:ext uri="{FF2B5EF4-FFF2-40B4-BE49-F238E27FC236}">
                <a16:creationId xmlns:a16="http://schemas.microsoft.com/office/drawing/2014/main" id="{BF367E83-DB93-46F8-BAAF-DE3E071E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db-text-1">
            <a:extLst xmlns:a="http://schemas.openxmlformats.org/drawingml/2006/main">
              <a:ext uri="{FF2B5EF4-FFF2-40B4-BE49-F238E27FC236}">
                <a16:creationId xmlns:a16="http://schemas.microsoft.com/office/drawing/2014/main" id="{2FDE817E-EE6F-4284-8286-10CEEB28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Unique email, one cart per user, and unique user-product wishlist/review pairs.</a:t>
            </a:r>
          </a:p>
        </p:txBody>
      </p:sp>
      <p:sp>
        <p:nvSpPr>
          <p:cNvPr id="43" name="db-bullet-2">
            <a:extLst xmlns:a="http://schemas.openxmlformats.org/drawingml/2006/main">
              <a:ext uri="{FF2B5EF4-FFF2-40B4-BE49-F238E27FC236}">
                <a16:creationId xmlns:a16="http://schemas.microsoft.com/office/drawing/2014/main" id="{05295CD2-BDD7-4F6C-AEFD-E2A822C8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db-text-2">
            <a:extLst xmlns:a="http://schemas.openxmlformats.org/drawingml/2006/main">
              <a:ext uri="{FF2B5EF4-FFF2-40B4-BE49-F238E27FC236}">
                <a16:creationId xmlns:a16="http://schemas.microsoft.com/office/drawing/2014/main" id="{17FA0FD8-51B5-41A9-9A3D-E5205970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Foreign keys connect every commerce operation to a valid user and product.</a:t>
            </a:r>
          </a:p>
        </p:txBody>
      </p:sp>
      <p:sp>
        <p:nvSpPr>
          <p:cNvPr id="45" name="db-bullet-3">
            <a:extLst xmlns:a="http://schemas.openxmlformats.org/drawingml/2006/main">
              <a:ext uri="{FF2B5EF4-FFF2-40B4-BE49-F238E27FC236}">
                <a16:creationId xmlns:a16="http://schemas.microsoft.com/office/drawing/2014/main" id="{F446BA34-1B80-4F67-AF98-794C35E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b-text-3">
            <a:extLst xmlns:a="http://schemas.openxmlformats.org/drawingml/2006/main">
              <a:ext uri="{FF2B5EF4-FFF2-40B4-BE49-F238E27FC236}">
                <a16:creationId xmlns:a16="http://schemas.microsoft.com/office/drawing/2014/main" id="{4AF0464C-0FB5-436F-9B49-2AC0D7CD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Cart item price and order item fields preserve commercial snapshots.</a:t>
            </a:r>
          </a:p>
        </p:txBody>
      </p:sp>
      <p:sp>
        <p:nvSpPr>
          <p:cNvPr id="47" name="db-bullet-4">
            <a:extLst xmlns:a="http://schemas.openxmlformats.org/drawingml/2006/main">
              <a:ext uri="{FF2B5EF4-FFF2-40B4-BE49-F238E27FC236}">
                <a16:creationId xmlns:a16="http://schemas.microsoft.com/office/drawing/2014/main" id="{C2AE35F2-9358-4EC2-91A3-2A0B2D42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db-text-4">
            <a:extLst xmlns:a="http://schemas.openxmlformats.org/drawingml/2006/main">
              <a:ext uri="{FF2B5EF4-FFF2-40B4-BE49-F238E27FC236}">
                <a16:creationId xmlns:a16="http://schemas.microsoft.com/office/drawing/2014/main" id="{D2FD17B5-EBD0-4414-A867-4C283E3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291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Checkout locks product rows and commits stock, order and cart changes together.</a:t>
            </a:r>
          </a:p>
        </p:txBody>
      </p:sp>
      <p:sp>
        <p:nvSpPr>
          <p:cNvPr id="49" name="db-bullet-5">
            <a:extLst xmlns:a="http://schemas.openxmlformats.org/drawingml/2006/main">
              <a:ext uri="{FF2B5EF4-FFF2-40B4-BE49-F238E27FC236}">
                <a16:creationId xmlns:a16="http://schemas.microsoft.com/office/drawing/2014/main" id="{52197084-6F66-408E-B117-3C331B04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29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db-text-5">
            <a:extLst xmlns:a="http://schemas.openxmlformats.org/drawingml/2006/main">
              <a:ext uri="{FF2B5EF4-FFF2-40B4-BE49-F238E27FC236}">
                <a16:creationId xmlns:a16="http://schemas.microsoft.com/office/drawing/2014/main" id="{9D2474EB-4779-4D5F-A979-F66C9D6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53000"/>
            <a:ext cx="3771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5231B"/>
                </a:solidFill>
              </a:defRPr>
            </a:pPr>
            <a:r>
              <a:rPr sz="1275" b="0" i="0">
                <a:solidFill>
                  <a:srgbClr val="15231B"/>
                </a:solidFill>
              </a:rPr>
              <a:t>Response DTOs return safe, purpose-specific JSON instead of entity graphs.</a:t>
            </a:r>
          </a:p>
        </p:txBody>
      </p:sp>
    </p:spTree>
    <p:extLst>
      <p:ext uri="{BB962C8B-B14F-4D97-AF65-F5344CB8AC3E}">
        <p14:creationId xmlns:p14="http://schemas.microsoft.com/office/powerpoint/2010/main" val="399804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971D290C-0BC0-443E-857E-1C0B7A9C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6B1A"/>
                </a:solidFill>
              </a:defRPr>
            </a:pPr>
            <a:r>
              <a:rPr sz="975" b="1" i="0">
                <a:solidFill>
                  <a:srgbClr val="FF6B1A"/>
                </a:solidFill>
              </a:rPr>
              <a:t>TEAM OWNERSHIP AND LIVE DEMONSTRATION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FC1569B8-B53E-4F56-BD14-1959A202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5231B"/>
                </a:solidFill>
              </a:defRPr>
            </a:pPr>
            <a:r>
              <a:rPr sz="2925" b="1" i="0">
                <a:solidFill>
                  <a:srgbClr val="15231B"/>
                </a:solidFill>
              </a:rPr>
              <a:t>Each presenter owns one vertical slice and its cross-module dependencies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A644B56F-7821-42CD-B8E2-C4423B6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33475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E0313A28-EA4C-490C-B1C1-F4EE04D0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86525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45A"/>
                </a:solidFill>
              </a:defRPr>
            </a:pPr>
            <a:r>
              <a:rPr sz="825" b="1" i="0">
                <a:solidFill>
                  <a:srgbClr val="52645A"/>
                </a:solidFill>
              </a:rPr>
              <a:t>MERCATO  /  TECHNICAL PRESENTATION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A689F76C-8FB5-480F-A6C2-E9F5FDE7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2645A"/>
                </a:solidFill>
              </a:defRPr>
            </a:pPr>
            <a:r>
              <a:rPr sz="975" b="1" i="0">
                <a:solidFill>
                  <a:srgbClr val="52645A"/>
                </a:solidFill>
              </a:rPr>
              <a:t>11</a:t>
            </a:r>
          </a:p>
        </p:txBody>
      </p:sp>
      <p:sp>
        <p:nvSpPr>
          <p:cNvPr id="6" name="owners-label">
            <a:extLst xmlns:a="http://schemas.openxmlformats.org/drawingml/2006/main">
              <a:ext uri="{FF2B5EF4-FFF2-40B4-BE49-F238E27FC236}">
                <a16:creationId xmlns:a16="http://schemas.microsoft.com/office/drawing/2014/main" id="{22BEEC37-E7F9-4509-A626-A467F790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6B1A"/>
                </a:solidFill>
              </a:defRPr>
            </a:pPr>
            <a:r>
              <a:rPr sz="1050" b="1" i="0">
                <a:solidFill>
                  <a:srgbClr val="FF6B1A"/>
                </a:solidFill>
              </a:rPr>
              <a:t>PRESENTATION OWNERS</a:t>
            </a:r>
          </a:p>
        </p:txBody>
      </p:sp>
      <p:sp>
        <p:nvSpPr>
          <p:cNvPr id="7" name="owner-name-0">
            <a:extLst xmlns:a="http://schemas.openxmlformats.org/drawingml/2006/main">
              <a:ext uri="{FF2B5EF4-FFF2-40B4-BE49-F238E27FC236}">
                <a16:creationId xmlns:a16="http://schemas.microsoft.com/office/drawing/2014/main" id="{50B2A8C2-5FB8-428B-9DE2-F2410717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Oshi</a:t>
            </a:r>
          </a:p>
        </p:txBody>
      </p:sp>
      <p:sp>
        <p:nvSpPr>
          <p:cNvPr id="8" name="owner-module-0">
            <a:extLst xmlns:a="http://schemas.openxmlformats.org/drawingml/2006/main">
              <a:ext uri="{FF2B5EF4-FFF2-40B4-BE49-F238E27FC236}">
                <a16:creationId xmlns:a16="http://schemas.microsoft.com/office/drawing/2014/main" id="{78F3B007-3C23-4201-8657-46F4AB70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09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Introduction &amp; architecture</a:t>
            </a:r>
          </a:p>
        </p:txBody>
      </p:sp>
      <p:sp>
        <p:nvSpPr>
          <p:cNvPr id="9" name="owner-rule-0">
            <a:extLst xmlns:a="http://schemas.openxmlformats.org/drawingml/2006/main">
              <a:ext uri="{FF2B5EF4-FFF2-40B4-BE49-F238E27FC236}">
                <a16:creationId xmlns:a16="http://schemas.microsoft.com/office/drawing/2014/main" id="{A0C24318-4E66-44F9-A8E7-F0DEF5F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wner-name-1">
            <a:extLst xmlns:a="http://schemas.openxmlformats.org/drawingml/2006/main">
              <a:ext uri="{FF2B5EF4-FFF2-40B4-BE49-F238E27FC236}">
                <a16:creationId xmlns:a16="http://schemas.microsoft.com/office/drawing/2014/main" id="{6091407B-C084-4CAA-9543-C988F6AE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Radhika</a:t>
            </a:r>
          </a:p>
        </p:txBody>
      </p:sp>
      <p:sp>
        <p:nvSpPr>
          <p:cNvPr id="11" name="owner-module-1">
            <a:extLst xmlns:a="http://schemas.openxmlformats.org/drawingml/2006/main">
              <a:ext uri="{FF2B5EF4-FFF2-40B4-BE49-F238E27FC236}">
                <a16:creationId xmlns:a16="http://schemas.microsoft.com/office/drawing/2014/main" id="{473C3B19-0847-44B3-A288-0B2525C7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050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Authentication &amp; profile</a:t>
            </a:r>
          </a:p>
        </p:txBody>
      </p:sp>
      <p:sp>
        <p:nvSpPr>
          <p:cNvPr id="12" name="owner-rule-1">
            <a:extLst xmlns:a="http://schemas.openxmlformats.org/drawingml/2006/main">
              <a:ext uri="{FF2B5EF4-FFF2-40B4-BE49-F238E27FC236}">
                <a16:creationId xmlns:a16="http://schemas.microsoft.com/office/drawing/2014/main" id="{A6C9D03D-4005-44C1-ADA9-C55071E8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193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wner-name-2">
            <a:extLst xmlns:a="http://schemas.openxmlformats.org/drawingml/2006/main">
              <a:ext uri="{FF2B5EF4-FFF2-40B4-BE49-F238E27FC236}">
                <a16:creationId xmlns:a16="http://schemas.microsoft.com/office/drawing/2014/main" id="{F8DDA209-86B3-43D4-A4CD-59D45143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Ashish</a:t>
            </a:r>
          </a:p>
        </p:txBody>
      </p:sp>
      <p:sp>
        <p:nvSpPr>
          <p:cNvPr id="14" name="owner-module-2">
            <a:extLst xmlns:a="http://schemas.openxmlformats.org/drawingml/2006/main">
              <a:ext uri="{FF2B5EF4-FFF2-40B4-BE49-F238E27FC236}">
                <a16:creationId xmlns:a16="http://schemas.microsoft.com/office/drawing/2014/main" id="{9DF79DBF-2718-489C-87B7-DB5D19EE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0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Catalogue &amp; product detail</a:t>
            </a:r>
          </a:p>
        </p:txBody>
      </p:sp>
      <p:sp>
        <p:nvSpPr>
          <p:cNvPr id="15" name="owner-rule-2">
            <a:extLst xmlns:a="http://schemas.openxmlformats.org/drawingml/2006/main">
              <a:ext uri="{FF2B5EF4-FFF2-40B4-BE49-F238E27FC236}">
                <a16:creationId xmlns:a16="http://schemas.microsoft.com/office/drawing/2014/main" id="{58A027DE-CF69-4F9F-9F3F-EDB40E6E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wner-name-3">
            <a:extLst xmlns:a="http://schemas.openxmlformats.org/drawingml/2006/main">
              <a:ext uri="{FF2B5EF4-FFF2-40B4-BE49-F238E27FC236}">
                <a16:creationId xmlns:a16="http://schemas.microsoft.com/office/drawing/2014/main" id="{808B9D53-09D2-4CD2-9FD0-6E85DB39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Jay</a:t>
            </a:r>
          </a:p>
        </p:txBody>
      </p:sp>
      <p:sp>
        <p:nvSpPr>
          <p:cNvPr id="17" name="owner-module-3">
            <a:extLst xmlns:a="http://schemas.openxmlformats.org/drawingml/2006/main">
              <a:ext uri="{FF2B5EF4-FFF2-40B4-BE49-F238E27FC236}">
                <a16:creationId xmlns:a16="http://schemas.microsoft.com/office/drawing/2014/main" id="{AED1412B-1FAC-4102-B311-51B7DAE5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95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Wishlist &amp; reviews</a:t>
            </a:r>
          </a:p>
        </p:txBody>
      </p:sp>
      <p:sp>
        <p:nvSpPr>
          <p:cNvPr id="18" name="owner-rule-3">
            <a:extLst xmlns:a="http://schemas.openxmlformats.org/drawingml/2006/main">
              <a:ext uri="{FF2B5EF4-FFF2-40B4-BE49-F238E27FC236}">
                <a16:creationId xmlns:a16="http://schemas.microsoft.com/office/drawing/2014/main" id="{E35546E8-7E78-49B5-AF68-A6377B7C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wner-name-4">
            <a:extLst xmlns:a="http://schemas.openxmlformats.org/drawingml/2006/main">
              <a:ext uri="{FF2B5EF4-FFF2-40B4-BE49-F238E27FC236}">
                <a16:creationId xmlns:a16="http://schemas.microsoft.com/office/drawing/2014/main" id="{E2958C3E-0F4A-4C92-8369-A0FF210C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Suraj</a:t>
            </a:r>
          </a:p>
        </p:txBody>
      </p:sp>
      <p:sp>
        <p:nvSpPr>
          <p:cNvPr id="20" name="owner-module-4">
            <a:extLst xmlns:a="http://schemas.openxmlformats.org/drawingml/2006/main">
              <a:ext uri="{FF2B5EF4-FFF2-40B4-BE49-F238E27FC236}">
                <a16:creationId xmlns:a16="http://schemas.microsoft.com/office/drawing/2014/main" id="{74D007C7-C704-49F0-852D-000DBB02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7909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Cart &amp; pricing state</a:t>
            </a:r>
          </a:p>
        </p:txBody>
      </p:sp>
      <p:sp>
        <p:nvSpPr>
          <p:cNvPr id="21" name="owner-rule-4">
            <a:extLst xmlns:a="http://schemas.openxmlformats.org/drawingml/2006/main">
              <a:ext uri="{FF2B5EF4-FFF2-40B4-BE49-F238E27FC236}">
                <a16:creationId xmlns:a16="http://schemas.microsoft.com/office/drawing/2014/main" id="{E2356F77-8A10-4A43-B99B-CD0A27F5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wner-name-5">
            <a:extLst xmlns:a="http://schemas.openxmlformats.org/drawingml/2006/main">
              <a:ext uri="{FF2B5EF4-FFF2-40B4-BE49-F238E27FC236}">
                <a16:creationId xmlns:a16="http://schemas.microsoft.com/office/drawing/2014/main" id="{AA46815C-5317-4935-B20E-8A476B1D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Varun</a:t>
            </a:r>
          </a:p>
        </p:txBody>
      </p:sp>
      <p:sp>
        <p:nvSpPr>
          <p:cNvPr id="23" name="owner-module-5">
            <a:extLst xmlns:a="http://schemas.openxmlformats.org/drawingml/2006/main">
              <a:ext uri="{FF2B5EF4-FFF2-40B4-BE49-F238E27FC236}">
                <a16:creationId xmlns:a16="http://schemas.microsoft.com/office/drawing/2014/main" id="{6012FCDA-A611-4A79-AD28-4E8A1AAE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862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Checkout, orders &amp; Razorpay</a:t>
            </a:r>
          </a:p>
        </p:txBody>
      </p:sp>
      <p:sp>
        <p:nvSpPr>
          <p:cNvPr id="24" name="owner-rule-5">
            <a:extLst xmlns:a="http://schemas.openxmlformats.org/drawingml/2006/main">
              <a:ext uri="{FF2B5EF4-FFF2-40B4-BE49-F238E27FC236}">
                <a16:creationId xmlns:a16="http://schemas.microsoft.com/office/drawing/2014/main" id="{F55F7045-0FCE-4144-9471-E2C7CF27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005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wner-name-6">
            <a:extLst xmlns:a="http://schemas.openxmlformats.org/drawingml/2006/main">
              <a:ext uri="{FF2B5EF4-FFF2-40B4-BE49-F238E27FC236}">
                <a16:creationId xmlns:a16="http://schemas.microsoft.com/office/drawing/2014/main" id="{322FA905-4F20-42C1-9578-F2478DE9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Kartik</a:t>
            </a:r>
          </a:p>
        </p:txBody>
      </p:sp>
      <p:sp>
        <p:nvSpPr>
          <p:cNvPr id="26" name="owner-module-6">
            <a:extLst xmlns:a="http://schemas.openxmlformats.org/drawingml/2006/main">
              <a:ext uri="{FF2B5EF4-FFF2-40B4-BE49-F238E27FC236}">
                <a16:creationId xmlns:a16="http://schemas.microsoft.com/office/drawing/2014/main" id="{E1090848-D0ED-49A4-8575-F7DF95FE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815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Administration</a:t>
            </a:r>
          </a:p>
        </p:txBody>
      </p:sp>
      <p:sp>
        <p:nvSpPr>
          <p:cNvPr id="27" name="owner-rule-6">
            <a:extLst xmlns:a="http://schemas.openxmlformats.org/drawingml/2006/main">
              <a:ext uri="{FF2B5EF4-FFF2-40B4-BE49-F238E27FC236}">
                <a16:creationId xmlns:a16="http://schemas.microsoft.com/office/drawing/2014/main" id="{98969258-D3BC-46E7-B2B0-5925CC21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wner-name-7">
            <a:extLst xmlns:a="http://schemas.openxmlformats.org/drawingml/2006/main">
              <a:ext uri="{FF2B5EF4-FFF2-40B4-BE49-F238E27FC236}">
                <a16:creationId xmlns:a16="http://schemas.microsoft.com/office/drawing/2014/main" id="{197B0CEA-9DD7-4C88-9FD9-8625CD38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Annu</a:t>
            </a:r>
          </a:p>
        </p:txBody>
      </p:sp>
      <p:sp>
        <p:nvSpPr>
          <p:cNvPr id="29" name="owner-module-7">
            <a:extLst xmlns:a="http://schemas.openxmlformats.org/drawingml/2006/main">
              <a:ext uri="{FF2B5EF4-FFF2-40B4-BE49-F238E27FC236}">
                <a16:creationId xmlns:a16="http://schemas.microsoft.com/office/drawing/2014/main" id="{3A5AEDDD-4217-4295-97BF-3A18E387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76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Database, integration &amp; conclusion</a:t>
            </a:r>
          </a:p>
        </p:txBody>
      </p:sp>
      <p:sp>
        <p:nvSpPr>
          <p:cNvPr id="30" name="owner-rule-7">
            <a:extLst xmlns:a="http://schemas.openxmlformats.org/drawingml/2006/main">
              <a:ext uri="{FF2B5EF4-FFF2-40B4-BE49-F238E27FC236}">
                <a16:creationId xmlns:a16="http://schemas.microsoft.com/office/drawing/2014/main" id="{7F7C3D2B-A958-481C-B24B-99AB07F8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911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emo-field">
            <a:extLst xmlns:a="http://schemas.openxmlformats.org/drawingml/2006/main">
              <a:ext uri="{FF2B5EF4-FFF2-40B4-BE49-F238E27FC236}">
                <a16:creationId xmlns:a16="http://schemas.microsoft.com/office/drawing/2014/main" id="{3640672F-80A0-4E87-8981-5A5CB82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66850"/>
            <a:ext cx="5667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2F5F3"/>
          </a:solidFill>
          <a:ln xmlns:a="http://schemas.openxmlformats.org/drawingml/2006/main" w="0">
            <a:solidFill>
              <a:srgbClr val="F2F5F3"/>
            </a:solidFill>
            <a:prstDash val="solid"/>
          </a:ln>
        </p:spPr>
      </p:sp>
      <p:sp>
        <p:nvSpPr>
          <p:cNvPr id="32" name="demo-title">
            <a:extLst xmlns:a="http://schemas.openxmlformats.org/drawingml/2006/main">
              <a:ext uri="{FF2B5EF4-FFF2-40B4-BE49-F238E27FC236}">
                <a16:creationId xmlns:a16="http://schemas.microsoft.com/office/drawing/2014/main" id="{712B4B46-88FB-4ED2-AB26-FBA4E071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3B27"/>
                </a:solidFill>
              </a:defRPr>
            </a:pPr>
            <a:r>
              <a:rPr sz="1275" b="1" i="0">
                <a:solidFill>
                  <a:srgbClr val="083B27"/>
                </a:solidFill>
              </a:rPr>
              <a:t>LIVE DEMO SEQUENCE</a:t>
            </a:r>
          </a:p>
        </p:txBody>
      </p:sp>
      <p:sp>
        <p:nvSpPr>
          <p:cNvPr id="33" name="demo-number-bg-0">
            <a:extLst xmlns:a="http://schemas.openxmlformats.org/drawingml/2006/main">
              <a:ext uri="{FF2B5EF4-FFF2-40B4-BE49-F238E27FC236}">
                <a16:creationId xmlns:a16="http://schemas.microsoft.com/office/drawing/2014/main" id="{1E87C0A9-9D03-4D1C-85BF-65CF46D2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34" name="demo-number-0">
            <a:extLst xmlns:a="http://schemas.openxmlformats.org/drawingml/2006/main">
              <a:ext uri="{FF2B5EF4-FFF2-40B4-BE49-F238E27FC236}">
                <a16:creationId xmlns:a16="http://schemas.microsoft.com/office/drawing/2014/main" id="{7C6A384F-3E3B-4DC5-BC6F-7DEDAAD5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demo-step-0">
            <a:extLst xmlns:a="http://schemas.openxmlformats.org/drawingml/2006/main">
              <a:ext uri="{FF2B5EF4-FFF2-40B4-BE49-F238E27FC236}">
                <a16:creationId xmlns:a16="http://schemas.microsoft.com/office/drawing/2014/main" id="{06A52C5F-46F1-4280-914F-697C4438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2885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Login → profile and role</a:t>
            </a:r>
          </a:p>
        </p:txBody>
      </p:sp>
      <p:sp>
        <p:nvSpPr>
          <p:cNvPr id="36" name="demo-number-bg-1">
            <a:extLst xmlns:a="http://schemas.openxmlformats.org/drawingml/2006/main">
              <a:ext uri="{FF2B5EF4-FFF2-40B4-BE49-F238E27FC236}">
                <a16:creationId xmlns:a16="http://schemas.microsoft.com/office/drawing/2014/main" id="{BA7A558B-9C10-4237-90B0-38841A5B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37" name="demo-number-1">
            <a:extLst xmlns:a="http://schemas.openxmlformats.org/drawingml/2006/main">
              <a:ext uri="{FF2B5EF4-FFF2-40B4-BE49-F238E27FC236}">
                <a16:creationId xmlns:a16="http://schemas.microsoft.com/office/drawing/2014/main" id="{0ACE5503-E32E-439F-8DE3-C8EA0D0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demo-step-1">
            <a:extLst xmlns:a="http://schemas.openxmlformats.org/drawingml/2006/main">
              <a:ext uri="{FF2B5EF4-FFF2-40B4-BE49-F238E27FC236}">
                <a16:creationId xmlns:a16="http://schemas.microsoft.com/office/drawing/2014/main" id="{127E7160-9B9A-4493-A7C4-AEB70925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57475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Browse → search → product detail</a:t>
            </a:r>
          </a:p>
        </p:txBody>
      </p:sp>
      <p:sp>
        <p:nvSpPr>
          <p:cNvPr id="39" name="demo-number-bg-2">
            <a:extLst xmlns:a="http://schemas.openxmlformats.org/drawingml/2006/main">
              <a:ext uri="{FF2B5EF4-FFF2-40B4-BE49-F238E27FC236}">
                <a16:creationId xmlns:a16="http://schemas.microsoft.com/office/drawing/2014/main" id="{1B66188B-FCC9-4E2B-9A66-EAB05D7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40" name="demo-number-2">
            <a:extLst xmlns:a="http://schemas.openxmlformats.org/drawingml/2006/main">
              <a:ext uri="{FF2B5EF4-FFF2-40B4-BE49-F238E27FC236}">
                <a16:creationId xmlns:a16="http://schemas.microsoft.com/office/drawing/2014/main" id="{D29EA8D9-306B-4E72-A2F7-6185B566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demo-step-2">
            <a:extLst xmlns:a="http://schemas.openxmlformats.org/drawingml/2006/main">
              <a:ext uri="{FF2B5EF4-FFF2-40B4-BE49-F238E27FC236}">
                <a16:creationId xmlns:a16="http://schemas.microsoft.com/office/drawing/2014/main" id="{96EADF81-F2DF-486C-95F2-766F697A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Save to wishlist → review</a:t>
            </a:r>
          </a:p>
        </p:txBody>
      </p:sp>
      <p:sp>
        <p:nvSpPr>
          <p:cNvPr id="42" name="demo-number-bg-3">
            <a:extLst xmlns:a="http://schemas.openxmlformats.org/drawingml/2006/main">
              <a:ext uri="{FF2B5EF4-FFF2-40B4-BE49-F238E27FC236}">
                <a16:creationId xmlns:a16="http://schemas.microsoft.com/office/drawing/2014/main" id="{C47A0D0B-9D7E-45E8-A0BF-FCF6AEF2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5675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43" name="demo-number-3">
            <a:extLst xmlns:a="http://schemas.openxmlformats.org/drawingml/2006/main">
              <a:ext uri="{FF2B5EF4-FFF2-40B4-BE49-F238E27FC236}">
                <a16:creationId xmlns:a16="http://schemas.microsoft.com/office/drawing/2014/main" id="{D819F340-F13C-4D90-B096-0EAE62D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4330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4" name="demo-step-3">
            <a:extLst xmlns:a="http://schemas.openxmlformats.org/drawingml/2006/main">
              <a:ext uri="{FF2B5EF4-FFF2-40B4-BE49-F238E27FC236}">
                <a16:creationId xmlns:a16="http://schemas.microsoft.com/office/drawing/2014/main" id="{48C216A6-2014-4724-8B5C-FDD96348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14725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Add to cart → update quantity</a:t>
            </a:r>
          </a:p>
        </p:txBody>
      </p:sp>
      <p:sp>
        <p:nvSpPr>
          <p:cNvPr id="45" name="demo-number-bg-4">
            <a:extLst xmlns:a="http://schemas.openxmlformats.org/drawingml/2006/main">
              <a:ext uri="{FF2B5EF4-FFF2-40B4-BE49-F238E27FC236}">
                <a16:creationId xmlns:a16="http://schemas.microsoft.com/office/drawing/2014/main" id="{5623CBBD-BF8B-4C8F-92E4-E2F45B8F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46" name="demo-number-4">
            <a:extLst xmlns:a="http://schemas.openxmlformats.org/drawingml/2006/main">
              <a:ext uri="{FF2B5EF4-FFF2-40B4-BE49-F238E27FC236}">
                <a16:creationId xmlns:a16="http://schemas.microsoft.com/office/drawing/2014/main" id="{2D041957-D789-4503-9FF9-76A82F27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7" name="demo-step-4">
            <a:extLst xmlns:a="http://schemas.openxmlformats.org/drawingml/2006/main">
              <a:ext uri="{FF2B5EF4-FFF2-40B4-BE49-F238E27FC236}">
                <a16:creationId xmlns:a16="http://schemas.microsoft.com/office/drawing/2014/main" id="{31267AA6-50B1-4333-AFF4-A670E119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4335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Checkout → COD/Razorpay explanation</a:t>
            </a:r>
          </a:p>
        </p:txBody>
      </p:sp>
      <p:sp>
        <p:nvSpPr>
          <p:cNvPr id="48" name="demo-number-bg-5">
            <a:extLst xmlns:a="http://schemas.openxmlformats.org/drawingml/2006/main">
              <a:ext uri="{FF2B5EF4-FFF2-40B4-BE49-F238E27FC236}">
                <a16:creationId xmlns:a16="http://schemas.microsoft.com/office/drawing/2014/main" id="{B4BBF8A6-27D7-467F-942F-312625CE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52925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49" name="demo-number-5">
            <a:extLst xmlns:a="http://schemas.openxmlformats.org/drawingml/2006/main">
              <a:ext uri="{FF2B5EF4-FFF2-40B4-BE49-F238E27FC236}">
                <a16:creationId xmlns:a16="http://schemas.microsoft.com/office/drawing/2014/main" id="{356A8720-75BA-4D74-BBE5-A7F4C91C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00550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0" name="demo-step-5">
            <a:extLst xmlns:a="http://schemas.openxmlformats.org/drawingml/2006/main">
              <a:ext uri="{FF2B5EF4-FFF2-40B4-BE49-F238E27FC236}">
                <a16:creationId xmlns:a16="http://schemas.microsoft.com/office/drawing/2014/main" id="{87CF3FCF-D8F3-4BD9-B8DB-4090267E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71975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5231B"/>
                </a:solidFill>
              </a:defRPr>
            </a:pPr>
            <a:r>
              <a:rPr sz="1200" b="0" i="0">
                <a:solidFill>
                  <a:srgbClr val="15231B"/>
                </a:solidFill>
              </a:rPr>
              <a:t>Order history → stock/database proof</a:t>
            </a:r>
          </a:p>
        </p:txBody>
      </p:sp>
      <p:sp>
        <p:nvSpPr>
          <p:cNvPr id="51" name="demo-number-bg-6">
            <a:extLst xmlns:a="http://schemas.openxmlformats.org/drawingml/2006/main">
              <a:ext uri="{FF2B5EF4-FFF2-40B4-BE49-F238E27FC236}">
                <a16:creationId xmlns:a16="http://schemas.microsoft.com/office/drawing/2014/main" id="{A982B3E6-A641-415C-A6A0-708C7FD9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276225" cy="276225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52" name="demo-number-6">
            <a:extLst xmlns:a="http://schemas.openxmlformats.org/drawingml/2006/main">
              <a:ext uri="{FF2B5EF4-FFF2-40B4-BE49-F238E27FC236}">
                <a16:creationId xmlns:a16="http://schemas.microsoft.com/office/drawing/2014/main" id="{F3947D68-0337-4ADB-9B34-9680FB58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29175"/>
            <a:ext cx="2762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3" name="demo-step-6">
            <a:extLst xmlns:a="http://schemas.openxmlformats.org/drawingml/2006/main">
              <a:ext uri="{FF2B5EF4-FFF2-40B4-BE49-F238E27FC236}">
                <a16:creationId xmlns:a16="http://schemas.microsoft.com/office/drawing/2014/main" id="{25A13552-32A9-44E2-BFB2-68EDFDB5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006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231B"/>
                </a:solidFill>
              </a:defRPr>
            </a:pPr>
            <a:r>
              <a:rPr sz="1200" b="1" i="0">
                <a:solidFill>
                  <a:srgbClr val="15231B"/>
                </a:solidFill>
              </a:rPr>
              <a:t>Admin product and user-cart view</a:t>
            </a:r>
          </a:p>
        </p:txBody>
      </p:sp>
      <p:sp>
        <p:nvSpPr>
          <p:cNvPr id="54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A7FA7B80-DAA2-4704-BE49-1B7F2900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86425"/>
            <a:ext cx="5667375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83B27"/>
          </a:solidFill>
          <a:ln xmlns:a="http://schemas.openxmlformats.org/drawingml/2006/main" w="0">
            <a:solidFill>
              <a:srgbClr val="083B27"/>
            </a:solidFill>
            <a:prstDash val="solid"/>
          </a:ln>
        </p:spPr>
      </p:sp>
      <p:sp>
        <p:nvSpPr>
          <p:cNvPr id="55" name="closing-copy">
            <a:extLst xmlns:a="http://schemas.openxmlformats.org/drawingml/2006/main">
              <a:ext uri="{FF2B5EF4-FFF2-40B4-BE49-F238E27FC236}">
                <a16:creationId xmlns:a16="http://schemas.microsoft.com/office/drawing/2014/main" id="{FECADF32-2419-4C47-A1A2-DD40BA7D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819775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One user action remains traceable from React to MySQL—and back to the UI.</a:t>
            </a:r>
          </a:p>
        </p:txBody>
      </p:sp>
    </p:spTree>
    <p:extLst>
      <p:ext uri="{BB962C8B-B14F-4D97-AF65-F5344CB8AC3E}">
        <p14:creationId xmlns:p14="http://schemas.microsoft.com/office/powerpoint/2010/main" val="9120362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2026-06-28T13:30:48.8760000Z</dcterms:created>
  <dcterms:modified xsi:type="dcterms:W3CDTF">2026-06-28T13:30:48.8760000Z</dcterms:modified>
</coreProperties>
</file>