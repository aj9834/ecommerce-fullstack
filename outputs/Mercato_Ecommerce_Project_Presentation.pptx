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387e43a8a1460c" /><Relationship Type="http://schemas.openxmlformats.org/officeDocument/2006/relationships/extended-properties" Target="/docProps/app.xml" Id="R39e433a681cf48df" /><Relationship Type="http://schemas.openxmlformats.org/officeDocument/2006/relationships/officeDocument" Target="/ppt/presentation.xml" Id="R4537fb2a34cd4e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144f5ce2104fca"/>
  </p:sldMasterIdLst>
  <p:notesMasterIdLst>
    <p:notesMasterId xmlns:r="http://schemas.openxmlformats.org/officeDocument/2006/relationships" r:id="R6acc3218a63744a0"/>
  </p:notesMasterIdLst>
  <p:sldIdLst>
    <p:sldId xmlns:r="http://schemas.openxmlformats.org/officeDocument/2006/relationships" id="256" r:id="R0cd01208b6c54b3c"/>
    <p:sldId xmlns:r="http://schemas.openxmlformats.org/officeDocument/2006/relationships" id="257" r:id="Rb79a08152c5149f7"/>
    <p:sldId xmlns:r="http://schemas.openxmlformats.org/officeDocument/2006/relationships" id="258" r:id="Rba79cdee0f884120"/>
    <p:sldId xmlns:r="http://schemas.openxmlformats.org/officeDocument/2006/relationships" id="259" r:id="Rfbda55021c4346c6"/>
    <p:sldId xmlns:r="http://schemas.openxmlformats.org/officeDocument/2006/relationships" id="260" r:id="R5c24b72f23054483"/>
    <p:sldId xmlns:r="http://schemas.openxmlformats.org/officeDocument/2006/relationships" id="261" r:id="R5c33b528ce8d44f7"/>
    <p:sldId xmlns:r="http://schemas.openxmlformats.org/officeDocument/2006/relationships" id="262" r:id="R51e962c3b1094b89"/>
    <p:sldId xmlns:r="http://schemas.openxmlformats.org/officeDocument/2006/relationships" id="263" r:id="Rbc1fe5a4973f4b07"/>
    <p:sldId xmlns:r="http://schemas.openxmlformats.org/officeDocument/2006/relationships" id="264" r:id="Reb8200ef4b964a52"/>
    <p:sldId xmlns:r="http://schemas.openxmlformats.org/officeDocument/2006/relationships" id="265" r:id="Rf5c6ddc472644ee8"/>
    <p:sldId xmlns:r="http://schemas.openxmlformats.org/officeDocument/2006/relationships" id="266" r:id="R9252b8a331544f01"/>
    <p:sldId xmlns:r="http://schemas.openxmlformats.org/officeDocument/2006/relationships" id="267" r:id="R655c0616e83248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dafac9a5c74b16" /><Relationship Type="http://schemas.openxmlformats.org/officeDocument/2006/relationships/slideMaster" Target="/ppt/slideMasters/slideMaster1.xml" Id="R8b144f5ce2104fca" /><Relationship Type="http://schemas.openxmlformats.org/officeDocument/2006/relationships/notesMaster" Target="/ppt/notesMasters/notesMaster1.xml" Id="R6acc3218a63744a0" /><Relationship Type="http://schemas.openxmlformats.org/officeDocument/2006/relationships/presProps" Target="/ppt/presProps.xml" Id="R776cfa2a9ad64839" /><Relationship Type="http://schemas.openxmlformats.org/officeDocument/2006/relationships/tableStyles" Target="/ppt/tableStyles.xml" Id="Reb94c588c8f240bc" /><Relationship Type="http://schemas.openxmlformats.org/officeDocument/2006/relationships/slide" Target="/ppt/slides/slide1.xml" Id="R0cd01208b6c54b3c" /><Relationship Type="http://schemas.openxmlformats.org/officeDocument/2006/relationships/slide" Target="/ppt/slides/slide2.xml" Id="Rb79a08152c5149f7" /><Relationship Type="http://schemas.openxmlformats.org/officeDocument/2006/relationships/slide" Target="/ppt/slides/slide3.xml" Id="Rba79cdee0f884120" /><Relationship Type="http://schemas.openxmlformats.org/officeDocument/2006/relationships/slide" Target="/ppt/slides/slide4.xml" Id="Rfbda55021c4346c6" /><Relationship Type="http://schemas.openxmlformats.org/officeDocument/2006/relationships/slide" Target="/ppt/slides/slide5.xml" Id="R5c24b72f23054483" /><Relationship Type="http://schemas.openxmlformats.org/officeDocument/2006/relationships/slide" Target="/ppt/slides/slide6.xml" Id="R5c33b528ce8d44f7" /><Relationship Type="http://schemas.openxmlformats.org/officeDocument/2006/relationships/slide" Target="/ppt/slides/slide7.xml" Id="R51e962c3b1094b89" /><Relationship Type="http://schemas.openxmlformats.org/officeDocument/2006/relationships/slide" Target="/ppt/slides/slide8.xml" Id="Rbc1fe5a4973f4b07" /><Relationship Type="http://schemas.openxmlformats.org/officeDocument/2006/relationships/slide" Target="/ppt/slides/slide9.xml" Id="Reb8200ef4b964a52" /><Relationship Type="http://schemas.openxmlformats.org/officeDocument/2006/relationships/slide" Target="/ppt/slides/slide10.xml" Id="Rf5c6ddc472644ee8" /><Relationship Type="http://schemas.openxmlformats.org/officeDocument/2006/relationships/slide" Target="/ppt/slides/slide11.xml" Id="R9252b8a331544f01" /><Relationship Type="http://schemas.openxmlformats.org/officeDocument/2006/relationships/slide" Target="/ppt/slides/slide12.xml" Id="R655c0616e83248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bdadcc574341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97092df2484296" /><Relationship Type="http://schemas.openxmlformats.org/officeDocument/2006/relationships/notesMaster" Target="/ppt/notesMasters/notesMaster1.xml" Id="R31b8133b446542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b3e574a0a9477b" /><Relationship Type="http://schemas.openxmlformats.org/officeDocument/2006/relationships/notesMaster" Target="/ppt/notesMasters/notesMaster1.xml" Id="R2e2cba38ffa141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2a49d0f55b4e7b" /><Relationship Type="http://schemas.openxmlformats.org/officeDocument/2006/relationships/notesMaster" Target="/ppt/notesMasters/notesMaster1.xml" Id="R14741c4466bd40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914d924ea14cd7" /><Relationship Type="http://schemas.openxmlformats.org/officeDocument/2006/relationships/notesMaster" Target="/ppt/notesMasters/notesMaster1.xml" Id="R813e1a4016544b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a51e4207bb406b" /><Relationship Type="http://schemas.openxmlformats.org/officeDocument/2006/relationships/notesMaster" Target="/ppt/notesMasters/notesMaster1.xml" Id="R0fd9df539def43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30e8733c88435a" /><Relationship Type="http://schemas.openxmlformats.org/officeDocument/2006/relationships/notesMaster" Target="/ppt/notesMasters/notesMaster1.xml" Id="R5667f05e74fc43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4ad0475d034027" /><Relationship Type="http://schemas.openxmlformats.org/officeDocument/2006/relationships/notesMaster" Target="/ppt/notesMasters/notesMaster1.xml" Id="Rd1288cf29d0e42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2d5d50281247f5" /><Relationship Type="http://schemas.openxmlformats.org/officeDocument/2006/relationships/notesMaster" Target="/ppt/notesMasters/notesMaster1.xml" Id="R05701504f8fe4d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11675bb9f04c7e" /><Relationship Type="http://schemas.openxmlformats.org/officeDocument/2006/relationships/notesMaster" Target="/ppt/notesMasters/notesMaster1.xml" Id="Rd907e945e6e04e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9aa2dbaf8e4fab" /><Relationship Type="http://schemas.openxmlformats.org/officeDocument/2006/relationships/notesMaster" Target="/ppt/notesMasters/notesMaster1.xml" Id="Rc7f95a55cc2347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3f5755613648b9" /><Relationship Type="http://schemas.openxmlformats.org/officeDocument/2006/relationships/notesMaster" Target="/ppt/notesMasters/notesMaster1.xml" Id="Rf59f1e5564d647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9de8aa05784575" /><Relationship Type="http://schemas.openxmlformats.org/officeDocument/2006/relationships/notesMaster" Target="/ppt/notesMasters/notesMaster1.xml" Id="R1e0416d609224b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daf8df58d4a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ca4495519f4212" /><Relationship Type="http://schemas.openxmlformats.org/officeDocument/2006/relationships/slideLayout" Target="/ppt/slideLayouts/slideLayout1.xml" Id="Rfdff8b67d6364f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f8b67d6364f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acd5b60814b71" /><Relationship Type="http://schemas.openxmlformats.org/officeDocument/2006/relationships/image" Target="/ppt/media/image.png" Id="R0a00251d83e14f74" /><Relationship Type="http://schemas.openxmlformats.org/officeDocument/2006/relationships/notesSlide" Target="/ppt/notesSlides/notesSlide1.xml" Id="Ra37a0da98b9c48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1f235d51248dd" /><Relationship Type="http://schemas.openxmlformats.org/officeDocument/2006/relationships/image" Target="/ppt/media/image2.png" Id="Rbf4c7a47f17f4d73" /><Relationship Type="http://schemas.openxmlformats.org/officeDocument/2006/relationships/image" Target="/ppt/media/image3.png" Id="R6d296537189648fc" /><Relationship Type="http://schemas.openxmlformats.org/officeDocument/2006/relationships/notesSlide" Target="/ppt/notesSlides/notesSlide2.xml" Id="Rdd8f7362e0ab4d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25438d11046fe" /><Relationship Type="http://schemas.openxmlformats.org/officeDocument/2006/relationships/image" Target="/ppt/media/image4.png" Id="Rdbbb4ab4a582453d" /><Relationship Type="http://schemas.openxmlformats.org/officeDocument/2006/relationships/image" Target="/ppt/media/image5.png" Id="Red2c181a1bb34866" /><Relationship Type="http://schemas.openxmlformats.org/officeDocument/2006/relationships/image" Target="/ppt/media/image6.png" Id="R61ce6674dc584a37" /><Relationship Type="http://schemas.openxmlformats.org/officeDocument/2006/relationships/image" Target="/ppt/media/image7.png" Id="R853a99c1f61b484e" /><Relationship Type="http://schemas.openxmlformats.org/officeDocument/2006/relationships/notesSlide" Target="/ppt/notesSlides/notesSlide3.xml" Id="R5794889180a441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63bb0f98d4141" /><Relationship Type="http://schemas.openxmlformats.org/officeDocument/2006/relationships/image" Target="/ppt/media/image8.png" Id="R9514f035d78e4a69" /><Relationship Type="http://schemas.openxmlformats.org/officeDocument/2006/relationships/image" Target="/ppt/media/image9.png" Id="R48c1648fbc994e5c" /><Relationship Type="http://schemas.openxmlformats.org/officeDocument/2006/relationships/image" Target="/ppt/media/image10.png" Id="Ra3986fabc9394202" /><Relationship Type="http://schemas.openxmlformats.org/officeDocument/2006/relationships/image" Target="/ppt/media/image11.png" Id="R10f91481d15e4df3" /><Relationship Type="http://schemas.openxmlformats.org/officeDocument/2006/relationships/notesSlide" Target="/ppt/notesSlides/notesSlide4.xml" Id="R626d56aae0a646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40ae0b5fe46cf" /><Relationship Type="http://schemas.openxmlformats.org/officeDocument/2006/relationships/image" Target="/ppt/media/image12.png" Id="Ra75f223f17c348bb" /><Relationship Type="http://schemas.openxmlformats.org/officeDocument/2006/relationships/image" Target="/ppt/media/image13.png" Id="R8296984e99f34dfa" /><Relationship Type="http://schemas.openxmlformats.org/officeDocument/2006/relationships/notesSlide" Target="/ppt/notesSlides/notesSlide5.xml" Id="R58b89d7ddb8e47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04002360e451b" /><Relationship Type="http://schemas.openxmlformats.org/officeDocument/2006/relationships/image" Target="/ppt/media/image14.png" Id="R660c0c18f6f44f98" /><Relationship Type="http://schemas.openxmlformats.org/officeDocument/2006/relationships/image" Target="/ppt/media/image15.png" Id="Raf8651228e9b4b94" /><Relationship Type="http://schemas.openxmlformats.org/officeDocument/2006/relationships/notesSlide" Target="/ppt/notesSlides/notesSlide6.xml" Id="R3880c1c6e9f448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5d6153d0649c5" /><Relationship Type="http://schemas.openxmlformats.org/officeDocument/2006/relationships/image" Target="/ppt/media/image16.png" Id="Rf2685ca07c2243c7" /><Relationship Type="http://schemas.openxmlformats.org/officeDocument/2006/relationships/image" Target="/ppt/media/image17.png" Id="R547ab8b58b2341e4" /><Relationship Type="http://schemas.openxmlformats.org/officeDocument/2006/relationships/notesSlide" Target="/ppt/notesSlides/notesSlide7.xml" Id="R050859d896524a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eea8c8b18419a" /><Relationship Type="http://schemas.openxmlformats.org/officeDocument/2006/relationships/image" Target="/ppt/media/image18.png" Id="Rc7b37dde7ed045b4" /><Relationship Type="http://schemas.openxmlformats.org/officeDocument/2006/relationships/image" Target="/ppt/media/image19.png" Id="Ra651db9fd1114d6e" /><Relationship Type="http://schemas.openxmlformats.org/officeDocument/2006/relationships/notesSlide" Target="/ppt/notesSlides/notesSlide8.xml" Id="Rc0d900a977ce43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26a9cb30c4308" /><Relationship Type="http://schemas.openxmlformats.org/officeDocument/2006/relationships/image" Target="/ppt/media/image20.png" Id="R5f6cc0a398884dd0" /><Relationship Type="http://schemas.openxmlformats.org/officeDocument/2006/relationships/image" Target="/ppt/media/image21.png" Id="Rbab4360025504032" /><Relationship Type="http://schemas.openxmlformats.org/officeDocument/2006/relationships/notesSlide" Target="/ppt/notesSlides/notesSlide9.xml" Id="R6b5a9d647da549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bb62934924261" /><Relationship Type="http://schemas.openxmlformats.org/officeDocument/2006/relationships/image" Target="/ppt/media/image22.png" Id="R5db0b3627da94b45" /><Relationship Type="http://schemas.openxmlformats.org/officeDocument/2006/relationships/image" Target="/ppt/media/image23.png" Id="Rb13b23e5ae194c09" /><Relationship Type="http://schemas.openxmlformats.org/officeDocument/2006/relationships/image" Target="/ppt/media/image24.png" Id="Ra9908c588bde4242" /><Relationship Type="http://schemas.openxmlformats.org/officeDocument/2006/relationships/notesSlide" Target="/ppt/notesSlides/notesSlide10.xml" Id="R26cc88067e5145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ebd9618f04190" /><Relationship Type="http://schemas.openxmlformats.org/officeDocument/2006/relationships/notesSlide" Target="/ppt/notesSlides/notesSlide11.xml" Id="R7de591e8d8e64b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5703dec794846" /><Relationship Type="http://schemas.openxmlformats.org/officeDocument/2006/relationships/image" Target="/ppt/media/image25.png" Id="R55c35a119d6b4c8f" /><Relationship Type="http://schemas.openxmlformats.org/officeDocument/2006/relationships/image" Target="/ppt/media/image26.png" Id="R22cfe2d3c1eb4067" /><Relationship Type="http://schemas.openxmlformats.org/officeDocument/2006/relationships/image" Target="/ppt/media/image27.png" Id="R7d1a0b289006476e" /><Relationship Type="http://schemas.openxmlformats.org/officeDocument/2006/relationships/notesSlide" Target="/ppt/notesSlides/notesSlide12.xml" Id="Re32f8a11f11240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8EA50D-C5C2-4781-BDE6-39EDBCCE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819150"/>
            <a:ext cx="5886450" cy="4362450"/>
          </a:xfrm>
          <a:prstGeom xmlns:a="http://schemas.openxmlformats.org/drawingml/2006/main" prst="roundRect">
            <a:avLst>
              <a:gd name="adj" fmla="val 26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0251d83e14f74"/>
          <a:srcRect xmlns:a="http://schemas.openxmlformats.org/drawingml/2006/main" l="11875" t="0" r="11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4050" y="857250"/>
            <a:ext cx="5810250" cy="4286250"/>
          </a:xfrm>
          <a:prstGeom xmlns:a="http://schemas.openxmlformats.org/drawingml/2006/main" prst="roundRect">
            <a:avLst>
              <a:gd name="adj" fmla="val 177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62BF2-5BD1-4FBC-986B-03843A7D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434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9A469-09B4-4F97-95FF-FA3D8541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00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Dashboard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8D386-9B96-4028-AEDC-24387A8A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9DC59-FA3B-4D0F-9010-1E917CF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FULL STACK E-COMMERCE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4C1ED-B6DF-4249-843B-8A84442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64C2F"/>
                </a:solidFill>
              </a:defRPr>
            </a:pPr>
            <a:r>
              <a:rPr sz="4350" b="1">
                <a:solidFill>
                  <a:srgbClr val="164C2F"/>
                </a:solidFill>
              </a:rPr>
              <a:t>Mercato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50E06-FFF5-4369-B902-0FA5CCFC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28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31C"/>
                </a:solidFill>
              </a:defRPr>
            </a:pPr>
            <a:r>
              <a:rPr sz="2250" b="1">
                <a:solidFill>
                  <a:srgbClr val="10231C"/>
                </a:solidFill>
              </a:rPr>
              <a:t>E-Commerce Application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02AA5-B142-400E-B2E6-BD76965D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0716A"/>
                </a:solidFill>
              </a:defRPr>
            </a:pPr>
            <a:r>
              <a:rPr sz="1425">
                <a:solidFill>
                  <a:srgbClr val="60716A"/>
                </a:solidFill>
              </a:rPr>
              <a:t>A React + Spring Boot + MySQL shopping platform covering customer journeys, admin operations, payments, reviews, and database-backed integration.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EE79E-B661-4A90-BF1E-4EF8E653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4C2F"/>
                </a:solidFill>
              </a:defRPr>
            </a:pPr>
            <a:r>
              <a:rPr sz="1350" b="1">
                <a:solidFill>
                  <a:srgbClr val="164C2F"/>
                </a:solidFill>
              </a:rPr>
              <a:t>12-slide project summary | 8 member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3B3A4D-B008-4EB7-9CC4-6C4C1BC7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17FB9-40A6-4DCB-B9CA-7119A9B4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9698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F83CD1-D3B8-4525-961C-80B0F00D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Problem, Scope and Team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66736-8640-4167-9AD5-6B48B626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Problem statement is kept focused: make online shopping, order placement, and admin control work in one integrated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ABF4B-456C-4410-8416-97E2FFDB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90650"/>
            <a:ext cx="36957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c7a47f17f4d73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428750"/>
            <a:ext cx="3619500" cy="203835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94822-514B-47A0-A43B-690DF070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670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608AF-9BED-47D8-87D4-09303C4B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242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Customer catalogue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C7242-28F4-4B10-8C54-DE372697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10000"/>
            <a:ext cx="369570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96537189648fc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3848100"/>
            <a:ext cx="3619500" cy="2038350"/>
          </a:xfrm>
          <a:prstGeom xmlns:a="http://schemas.openxmlformats.org/drawingml/2006/main" prst="roundRect">
            <a:avLst>
              <a:gd name="adj" fmla="val 373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BD6F3-DC17-4222-BD69-632FC9BB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864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776E9-140F-496A-B5E7-9B2D4839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43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Admin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0CF32-CFCA-49C3-88B2-DB14290E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AE658-7A67-4907-B5C4-F31C5059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377DF-0D1A-4552-8F09-BDAA98CA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Introduction and system 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55C20-15D0-49FE-882C-524D37DD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4859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AE7EF-81FF-4E39-B5CD-25198479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6192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EFC63-4C0D-4995-9FC4-3B5ACF3E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8478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Authentication, security and 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EAD30-26A8-4290-A0B8-C6FD2EB7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804ED-1DD2-49AA-8852-5853A6A8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A4642-A0B7-4637-A99F-CCB6291F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Product catalogue and discovery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1D8F4-63B4-40A0-BE90-CFE08663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5336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944BC-10D6-4682-B28D-5BD28A73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670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6DA31-880B-4C74-890E-CC946002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8956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Wishlist, rating, reviews and image upload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E915A-ABEE-4059-A5BC-7942053E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71C31-74CD-4ABC-B029-8B4CB4EA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D7AC9-432E-41B9-8C7E-B62FF897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Cart and pricing 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1F2CC-E10C-4F85-841F-4F44659A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58140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58D8B9-E53F-40ED-8943-EAB0C9B7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714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489442-9454-4DFC-B549-BD0A94E1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94335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Checkout, orders and Razorpay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367DA-A775-4085-ADD7-E5010152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54787E-95F7-4B3B-9028-6DE6329D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40EFFF-4271-4205-B0A7-6057930B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Administration and role-based access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978C6-7A93-44C2-8720-788DB470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6291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48159D-F2A2-4810-BA84-F39B6018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7625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7117"/>
                </a:solidFill>
              </a:defRPr>
            </a:pPr>
            <a:r>
              <a:rPr sz="1125" b="1">
                <a:solidFill>
                  <a:srgbClr val="FF7117"/>
                </a:solidFill>
              </a:rPr>
              <a:t>Member 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6C0D7-9A91-4708-B836-B7D9A7E6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991100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Operations, database integration and conclusion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0DD80B-94FD-4DCB-8EFC-E00DB197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BB5447-3A81-4D88-AFB4-920F0801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523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C08316-EFAA-4394-827D-69B6CEC7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8CD45-71BF-4E43-AAA6-F3DF0859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High-level project view without code: customer UI, admin UI, services, integrations and database.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B2D1E-55D9-4DD7-9B04-6C145EF4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8C617-486F-4656-BDFA-0D5B844B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144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Customer UI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React pages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36881-1AFD-4CDA-9F16-DD010FA8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00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31966-4BFA-4194-AF12-F1B44C21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02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E46E0-6A31-4242-AE5D-F34D6F25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43125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API Layer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Auth, products, cart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4CB4F-74F8-4935-9C98-10EAB125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F4FB4-715C-4899-827C-6E302A0F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24ADE-46E0-4ADA-A832-2DFD8A70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43125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Spring Boot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Business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9E4BA-FA33-4143-B00D-B36B3371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00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27135-6ED6-4FB6-8081-590A07E8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52BC7-110E-4B4E-BB87-90AE4CD6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43125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MySQL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Persistent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9B90F-8425-4BDF-848A-916F5EEF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95700"/>
            <a:ext cx="2190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04E1E-F0AB-427F-A83D-92FAF17F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3857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Admin Panel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Role-based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4E6F1-0DFC-44C1-A103-1FBA6948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95700"/>
            <a:ext cx="2000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BE050-3AAC-4492-9ACC-1E097FB1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38575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JWT Security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Protected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9DC6B-6027-4AA2-823E-3B6D12A8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5700"/>
            <a:ext cx="209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F9705-0C81-4199-8511-3A1E09B2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3857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Razorpay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Payment gateway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4B844-508E-4AB8-AD75-7E2B558A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576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E55C36-E74E-4664-9676-6BB9D047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AD12A-1543-4B52-9CC9-CC1A390B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14900"/>
            <a:ext cx="226695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b4ab4a582453d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4953000"/>
            <a:ext cx="2190750" cy="1228725"/>
          </a:xfrm>
          <a:prstGeom xmlns:a="http://schemas.openxmlformats.org/drawingml/2006/main" prst="roundRect">
            <a:avLst>
              <a:gd name="adj" fmla="val 6202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7DDA6-920D-4465-A231-C2DEE4BD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81675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6CA789-D485-4C47-86B4-2DD9392B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8388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5119A-8943-4633-AD56-78DC5C40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14900"/>
            <a:ext cx="226695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c181a1bb34866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43300" y="4953000"/>
            <a:ext cx="2190750" cy="1228725"/>
          </a:xfrm>
          <a:prstGeom xmlns:a="http://schemas.openxmlformats.org/drawingml/2006/main" prst="roundRect">
            <a:avLst>
              <a:gd name="adj" fmla="val 6202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B8F7F3-F641-4E9F-8702-C146DC09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781675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B28716-E155-439C-8D5C-0B2A2762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8388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9F2918-A5BA-4635-8EC5-32326820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14900"/>
            <a:ext cx="226695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e6674dc584a37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4953000"/>
            <a:ext cx="2190750" cy="1228725"/>
          </a:xfrm>
          <a:prstGeom xmlns:a="http://schemas.openxmlformats.org/drawingml/2006/main" prst="roundRect">
            <a:avLst>
              <a:gd name="adj" fmla="val 6202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2DFC1-5C95-4350-889F-1F3B89CE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81675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E9C8A6-4D91-405A-AD08-AA6F8CE0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8388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833925-D250-407D-B791-A5C5A776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14900"/>
            <a:ext cx="226695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a99c1f61b484e"/>
          <a:srcRect xmlns:a="http://schemas.openxmlformats.org/drawingml/2006/main" l="0" t="145" r="0" b="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91650" y="4953000"/>
            <a:ext cx="2190750" cy="1228725"/>
          </a:xfrm>
          <a:prstGeom xmlns:a="http://schemas.openxmlformats.org/drawingml/2006/main" prst="roundRect">
            <a:avLst>
              <a:gd name="adj" fmla="val 6202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4149BB-B28B-4D87-9B3F-78885023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81675"/>
            <a:ext cx="1924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5F7A60-99CF-4769-8029-25385E5B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3882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Admin users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90F0D9-006E-4ACA-AE2E-0AEE32CA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2849C5-B287-4814-AEC7-CF1C0584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54059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EEAF5-990F-4080-BD5D-E996054D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Authentication, Security and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DBD97-CA20-4221-9E5D-FC059B67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2 module: user entry, account recovery, session protection and profile maintenance.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61473-B1E6-4103-A4FA-C36AB0B1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2552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4f035d78e4a69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2476500" cy="139065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25DEA-EED6-4B91-A0F0-2736628B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209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657A1-39C5-413C-AD88-73F2C5DA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Sign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041C8-BCC3-47E8-A975-F6F0D3E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90650"/>
            <a:ext cx="2552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1648fbc994e5c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1428750"/>
            <a:ext cx="2476500" cy="139065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E3B73-91A9-47AA-94A2-EB52F7FE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19350"/>
            <a:ext cx="2209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94491-7F92-4CDE-BBBC-5B1A04CE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765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BA3DE-033F-4BD0-AB51-C8F3B7D9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552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86fabc9394202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219450"/>
            <a:ext cx="2476500" cy="139065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0A942-76A5-4F0D-9A49-0638169B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2209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1CEA7-3B38-4428-AD81-391EECFD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Password reset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E4F74-4258-4C79-8EC0-D11B096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81350"/>
            <a:ext cx="25527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91481d15e4df3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3219450"/>
            <a:ext cx="2476500" cy="1390650"/>
          </a:xfrm>
          <a:prstGeom xmlns:a="http://schemas.openxmlformats.org/drawingml/2006/main" prst="roundRect">
            <a:avLst>
              <a:gd name="adj" fmla="val 547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A3D0F-A136-4F8B-B88B-92E76331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2209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A6AC2-E72C-4040-BB3E-E7E55DAF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Profile update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9113C-F336-4949-92E6-C78F36E0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4767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52C01-AA18-44DF-BC3E-728D1DAD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4C2F"/>
                </a:solidFill>
              </a:defRPr>
            </a:pPr>
            <a:r>
              <a:rPr sz="1875" b="1">
                <a:solidFill>
                  <a:srgbClr val="164C2F"/>
                </a:solidFill>
              </a:rPr>
              <a:t>What this module demonstrates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64030-77A2-4FB0-B941-DF2E856D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5F8DB5-3A1C-45D3-9C80-1C43884F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Login, registration and forgot-password screens keep account access clear.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50BA4-8902-48A8-AB05-9949A6D6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2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4BF8D-F698-4A59-BBDE-1543F845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Session-based navigation separates protected customer pages from public pages.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259C2-0BD2-4018-8AC7-59191439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09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5A589-8242-4858-846F-CBF310DF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62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Profile page allows account details and password changes from one place.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019CB-2F62-48DC-BA32-98B067F1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100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EAF8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05DE22-AADA-4BE6-88CE-D9652B83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86250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64C2F"/>
                </a:solidFill>
              </a:defRPr>
            </a:pPr>
            <a:r>
              <a:rPr sz="900" b="1">
                <a:solidFill>
                  <a:srgbClr val="164C2F"/>
                </a:solidFill>
              </a:rPr>
              <a:t>No code shown: behavior explained through screens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B6542B-99EA-4C12-99FE-656DDAD5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2EF046-0AB6-4C89-843E-392D9AA8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30045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109EEF-7E4B-4ADF-8DB5-8B7D1151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Product Catalogue and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D031D-E5C3-4912-B5AA-6055A586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3 module: browse, filter, inspect details, track ratings and add items to cart.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311ED-41E3-499C-AC82-A105B89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5076825" cy="288607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f223f17c348bb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5000625" cy="2809875"/>
          </a:xfrm>
          <a:prstGeom xmlns:a="http://schemas.openxmlformats.org/drawingml/2006/main" prst="roundRect">
            <a:avLst>
              <a:gd name="adj" fmla="val 271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70036-82BA-48FE-AD28-7BCBCFE0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236A8-4E0D-4FB4-8442-78226F18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Catalogue and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565E3-0C8E-4263-9CEF-FB88D021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90650"/>
            <a:ext cx="5076825" cy="2886075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6984e99f34dfa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428750"/>
            <a:ext cx="5000625" cy="2809875"/>
          </a:xfrm>
          <a:prstGeom xmlns:a="http://schemas.openxmlformats.org/drawingml/2006/main" prst="roundRect">
            <a:avLst>
              <a:gd name="adj" fmla="val 271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40AA5-D8C8-4B3A-9ACE-73AC4924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38575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8CB91-FC17-402F-A783-7E6C320D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Product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A5030-0233-4359-964B-C3606C8B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3143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D3243-A05D-4B7C-A3B2-574DF3C1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4C2F"/>
                </a:solidFill>
              </a:defRPr>
            </a:pPr>
            <a:r>
              <a:rPr sz="1575" b="1">
                <a:solidFill>
                  <a:srgbClr val="164C2F"/>
                </a:solidFill>
              </a:rPr>
              <a:t>Discovery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9285B-CE06-428D-A3CC-9694864F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16A"/>
                </a:solidFill>
              </a:defRPr>
            </a:pPr>
            <a:r>
              <a:rPr sz="1200">
                <a:solidFill>
                  <a:srgbClr val="60716A"/>
                </a:solidFill>
              </a:rPr>
              <a:t>Search, category filtering, stock labels, ratings and wishlist entry points.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7D1CB-EF13-4B67-822F-A51C7771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10125"/>
            <a:ext cx="3143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0D62B-F5B4-411A-A2C9-9CC81CA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4C2F"/>
                </a:solidFill>
              </a:defRPr>
            </a:pPr>
            <a:r>
              <a:rPr sz="1575" b="1">
                <a:solidFill>
                  <a:srgbClr val="164C2F"/>
                </a:solidFill>
              </a:rPr>
              <a:t>Decision screen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74980-75D6-4679-8FA6-FE97A229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2578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16A"/>
                </a:solidFill>
              </a:defRPr>
            </a:pPr>
            <a:r>
              <a:rPr sz="1200">
                <a:solidFill>
                  <a:srgbClr val="60716A"/>
                </a:solidFill>
              </a:rPr>
              <a:t>Product images, quantity selection, price, rating and add-to-cart 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DD7C6-C449-4E47-8C0F-C34F46C0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0125"/>
            <a:ext cx="2857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28ED8-E190-47F8-9FEB-91510C91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53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4C2F"/>
                </a:solidFill>
              </a:defRPr>
            </a:pPr>
            <a:r>
              <a:rPr sz="1575" b="1">
                <a:solidFill>
                  <a:srgbClr val="164C2F"/>
                </a:solidFill>
              </a:rPr>
              <a:t>Customer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A8F7B-D6FE-4627-8A6D-8AA5C30B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57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16A"/>
                </a:solidFill>
              </a:defRPr>
            </a:pPr>
            <a:r>
              <a:rPr sz="1200">
                <a:solidFill>
                  <a:srgbClr val="60716A"/>
                </a:solidFill>
              </a:rPr>
              <a:t>Less friction from browsing to cart selection.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0A57D8-FED0-43C8-B1BF-C77A32CE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09122-903A-4C5C-947E-FFBA6ED0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8598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96A2F1-A814-49DB-8CDC-87ADB767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Wishlist, Ratings, Reviews and Image Upload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54780-4C91-4905-9C3D-22B580F7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4 module: saved products, buyer feedback, star rating and optional review images.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BFAEE-44F1-46CF-AF33-E02B4208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4838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c0c18f6f44f98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4762500" cy="2686050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E5367-7436-498F-A84D-FE8BE4C1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F919E-DB5B-47FE-8E7E-CCE63AEE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Wishlist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6B335-9925-4C5D-9059-D5E15B62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390650"/>
            <a:ext cx="4838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651228e9b4b94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1428750"/>
            <a:ext cx="4762500" cy="2686050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3C652-7D04-425E-AC8C-66D4AA32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714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15B2A-4CE0-486B-AEAD-0D190480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71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Reviews and upload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1C446-7A8A-4898-99DD-948A78E0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10125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55645-5085-4D93-8A5F-335A75C6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530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Product liked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B55EC-FAD0-446E-A877-67259AB4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958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7B22B-3EFB-4242-9C95-387F15D0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810125"/>
            <a:ext cx="2000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8E2D2-D4C2-4BB0-9BC2-0D991D08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Saved to wishlist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1653D-930D-48C9-83BD-E89728CD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958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67E39F-BBE3-4FBD-8A7B-DA2C96DC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10125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DAA18-9A8F-48C5-B1F4-33A6C1EB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1924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Review with stars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and photo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3CE4B-C097-4CDF-81A6-AAA2F40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958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25BEA-CBBA-4DF3-A975-794A855C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10125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A730F-1E84-48C9-93EE-FF9AAB67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9530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Trust signal for</a:t>
            </a:r>
          </a:p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future buyers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41148-1965-41BF-9DFC-75EFBA3F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3F9302-5423-45F2-8B5D-C9CB7A32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2741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43D335-7761-4B06-9589-A83F094A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Cart and Pricing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5E795-6E9C-4AF8-AB41-EC28B45A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5 module: cart is maintained as a live state with quantity changes, remove actions and pricing totals.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350A4-31DA-44DE-8E6E-7619968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4838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85ca07c2243c7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4762500" cy="2686050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BF82F-2B56-4323-9935-CF79CAED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3AB0D-B1C2-4C37-85D6-9545C4C8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Empty cart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32BF6-43A4-428E-8011-1C9444CD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390650"/>
            <a:ext cx="48387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ab8b58b2341e4"/>
          <a:srcRect xmlns:a="http://schemas.openxmlformats.org/drawingml/2006/main" l="133" t="0" r="1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1428750"/>
            <a:ext cx="4762500" cy="2686050"/>
          </a:xfrm>
          <a:prstGeom xmlns:a="http://schemas.openxmlformats.org/drawingml/2006/main" prst="roundRect">
            <a:avLst>
              <a:gd name="adj" fmla="val 283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8064E-E49F-4E52-B8C8-3A477D1D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7147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809CA-9930-4C96-B1D8-43075657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719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Filled cart and totals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206FF-53C7-4314-874A-93B1C5C5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276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F2559-C457-4FCA-8B5E-DA1E426D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292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A53E6-614D-4A78-98D1-680974B9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863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FE611-51A3-4F73-8978-BDB391EE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91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231C"/>
                </a:solidFill>
              </a:defRPr>
            </a:pPr>
            <a:r>
              <a:rPr sz="1200">
                <a:solidFill>
                  <a:srgbClr val="10231C"/>
                </a:solidFill>
              </a:rPr>
              <a:t>Empty state guides users back to products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027DC-E8E6-4203-9C58-3CDDFE52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276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7DC6B-D689-49B5-B73E-2E524707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292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1A271F-D8E1-4429-B63F-1F24141A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0863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78EAD-98EB-4B20-9855-05CB0C02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91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231C"/>
                </a:solidFill>
              </a:defRPr>
            </a:pPr>
            <a:r>
              <a:rPr sz="1200">
                <a:solidFill>
                  <a:srgbClr val="10231C"/>
                </a:solidFill>
              </a:rPr>
              <a:t>Quantity controls update item subtotal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554439-E4AA-403F-BAA9-6462168C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2762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BC55C-6812-4B67-97A7-3E1688B3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50292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30E49A-A18E-458F-BD0B-A5B4F765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86350"/>
            <a:ext cx="15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B0F3F0-69CD-43B3-90F4-EB623DDE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991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231C"/>
                </a:solidFill>
              </a:defRPr>
            </a:pPr>
            <a:r>
              <a:rPr sz="1200">
                <a:solidFill>
                  <a:srgbClr val="10231C"/>
                </a:solidFill>
              </a:rPr>
              <a:t>Order summary separates item amount, delivery, tax and total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AD968-3B86-4B70-8EBB-C4D2C1F3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2140AA-4B54-44A0-BE7B-72B51D58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37911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0854F-4BE9-4FBE-A9A2-2D34D9E8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Checkout, Orders and Razorpay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C8942-4136-40B5-A347-5847C0E7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6 module: shipping details, payment gateway, order history and payment status tracking.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9EB6F-8F0F-4AA9-BA70-0943DFAB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5029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37dde7ed045b4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09700"/>
            <a:ext cx="4953000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49006-4479-4D44-920E-5C2D7894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FEAFA-ABA0-4AC7-BE60-8CB6ECD5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Razorpay checkout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8868A-6B52-4A2B-BBE2-01632C85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371600"/>
            <a:ext cx="5029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1db9fd1114d6e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1409700"/>
            <a:ext cx="4953000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62487-2256-46BE-9825-1BAB6C13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9095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49EDD-9165-49BC-8F86-CB910EEA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481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Order history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9F39F-6D42-4F31-BDEF-8D511038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1428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088FC-B0BC-4AE8-AA37-251B7160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Cart 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BE9FD-A8E4-44FF-A141-150DB54E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720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338B4D-65E3-4FE9-A46D-625EEE5B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05375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13487-9D92-4144-827F-33FF3F4D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0482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Shipping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2964D-AF07-4A92-A57B-E998CDAC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720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E7FE0-6E6D-4950-A4BF-43D5626C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05375"/>
            <a:ext cx="180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2E2F6-A7C0-4F27-A449-E6D76F0E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4825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Razorpay 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79D67-4AC3-4D79-88C2-B1065241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720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F8D87-5909-4F9F-A25F-8FBF34F4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05375"/>
            <a:ext cx="152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53848-1FC2-4653-9024-79D06FC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482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Order 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40801-0426-42DB-A620-579F620A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720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07667-2CFE-44CD-9BC3-8BABE6FD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05375"/>
            <a:ext cx="1524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12BBC8-9970-45C4-8AF3-8B38872E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0482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Status visible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F0DE1-D7A8-42E3-9910-0428D326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42D8B-4983-4B8F-8220-AC5EEEE9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51562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158FE5-88ED-4AC4-92F1-B3512497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Administration and Role-Based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35041-E966-4A78-98A8-4C4C78A7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7 module: admin-only screens for products, users and store governance.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30028-F011-4730-8CBA-22AAB9EE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5029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cc0a398884dd0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4953000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179EC-85DF-4135-A2EA-53EB30EA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39867-E305-4FE7-BAC7-66989702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Admin products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903F0-6CDB-4B14-8E22-9CEE157D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390650"/>
            <a:ext cx="5029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4360025504032"/>
          <a:srcRect xmlns:a="http://schemas.openxmlformats.org/drawingml/2006/main" l="0" t="85" r="0" b="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1428750"/>
            <a:ext cx="4953000" cy="278130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A76EF-8405-42C9-A6EF-2DF830CB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8100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FBF09-2A51-43B4-873C-FF5E2568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67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User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94793-A9B4-4AD5-B779-835E4974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865BC-4968-4347-9510-173F270F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72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4C2F"/>
                </a:solidFill>
              </a:defRPr>
            </a:pPr>
            <a:r>
              <a:rPr sz="1575" b="1">
                <a:solidFill>
                  <a:srgbClr val="164C2F"/>
                </a:solidFill>
              </a:rPr>
              <a:t>Admin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6C38A-C988-4109-BA23-64E2361B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16A"/>
                </a:solidFill>
              </a:defRPr>
            </a:pPr>
            <a:r>
              <a:rPr sz="1200">
                <a:solidFill>
                  <a:srgbClr val="60716A"/>
                </a:solidFill>
              </a:rPr>
              <a:t>Maintains products and user accounts.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4B200-613B-4605-AD46-B3315A1F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10125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352AF-A464-49F3-8ED6-FEA7679B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72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4C2F"/>
                </a:solidFill>
              </a:defRPr>
            </a:pPr>
            <a:r>
              <a:rPr sz="1575" b="1">
                <a:solidFill>
                  <a:srgbClr val="164C2F"/>
                </a:solidFill>
              </a:rPr>
              <a:t>User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C6499-50CC-4FBB-9418-DC22045D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16A"/>
                </a:solidFill>
              </a:defRPr>
            </a:pPr>
            <a:r>
              <a:rPr sz="1200">
                <a:solidFill>
                  <a:srgbClr val="60716A"/>
                </a:solidFill>
              </a:rPr>
              <a:t>Accesses catalogue, cart, orders and profile.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E3966-84D2-46E8-A2B0-02BF14D1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0125"/>
            <a:ext cx="2381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DB0C8-9B43-4732-BC16-CE4B7B64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72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4C2F"/>
                </a:solidFill>
              </a:defRPr>
            </a:pPr>
            <a:r>
              <a:rPr sz="1575" b="1">
                <a:solidFill>
                  <a:srgbClr val="164C2F"/>
                </a:solidFill>
              </a:rPr>
              <a:t>Protected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86598-53ED-4555-8DA9-02BA0FFF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578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16A"/>
                </a:solidFill>
              </a:defRPr>
            </a:pPr>
            <a:r>
              <a:rPr sz="1200">
                <a:solidFill>
                  <a:srgbClr val="60716A"/>
                </a:solidFill>
              </a:rPr>
              <a:t>Screens expose actions based on permission.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16F21-CD57-4577-9DA2-DCA18E06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919A5-28B7-496A-9A71-001B65E1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36449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2F8EF7-5343-423B-B3B5-EABD9D58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Admin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DD4A6-266D-4D9A-B728-F076239F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Role-based operation screens for product maintenance and cart visibility.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2F2BD-7136-4013-A44C-F07446C7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33337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0b3627da94b45"/>
          <a:srcRect xmlns:a="http://schemas.openxmlformats.org/drawingml/2006/main" l="0" t="97" r="0" b="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32575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80A6F-5D68-4A54-9B44-A96FE669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33958-1EB3-482E-9F4A-FB7CBED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User carts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FF3BB-54F7-4612-BC35-09EAC34B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33337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b23e5ae194c09"/>
          <a:srcRect xmlns:a="http://schemas.openxmlformats.org/drawingml/2006/main" l="0" t="97" r="0" b="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1428750"/>
            <a:ext cx="32575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083D0-1B9D-4663-8893-9D852C15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575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E8976-D40C-4290-9B22-04EE33CF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Add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31365-B103-4027-8846-AD388608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90650"/>
            <a:ext cx="33337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08c588bde4242"/>
          <a:srcRect xmlns:a="http://schemas.openxmlformats.org/drawingml/2006/main" l="0" t="97" r="0" b="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428750"/>
            <a:ext cx="32575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D1638-9847-4BA6-9CF1-BCC27284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7B048-E7CD-4E32-8DE5-AD4A4BF9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Edit product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67AEC7-B4F9-4E67-A1C3-D39975E4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382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A5C89-6E85-4C7A-9BF9-31EB5A6E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4C2F"/>
                </a:solidFill>
              </a:defRPr>
            </a:pPr>
            <a:r>
              <a:rPr sz="1875" b="1">
                <a:solidFill>
                  <a:srgbClr val="164C2F"/>
                </a:solidFill>
              </a:rPr>
              <a:t>Operational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35EF6-0867-4928-94D3-CB04C54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00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6C58C7-28F1-4AC0-85CF-ED623192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5295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Admin can add, edit, activate or deactivate product records.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3FB35-266B-4C2B-9AB9-E8296214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00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BA439-AB1E-417A-9F26-5630BF96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5295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Cart oversight shows active baskets, item counts and value by user.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8ECCF7-D718-4B50-8519-A1760900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00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117"/>
          </a:solidFill>
          <a:ln xmlns:a="http://schemas.openxmlformats.org/drawingml/2006/main" w="9525">
            <a:solidFill>
              <a:srgbClr val="FF711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5831F1-D2B8-4DE3-A446-53A8E3C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0231C"/>
                </a:solidFill>
              </a:defRPr>
            </a:pPr>
            <a:r>
              <a:rPr sz="1275">
                <a:solidFill>
                  <a:srgbClr val="10231C"/>
                </a:solidFill>
              </a:rPr>
              <a:t>The same visual language is reused across customer and admin surfaces.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85FE46-B4F2-469B-834B-CE69FB06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D2515-CCD5-4C92-8709-B200967B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656994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2D3E00-DC21-4E32-9EAE-FCB87531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Operations, Database and Complete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A4231-D46D-47D3-ADA2-6C9A7D4C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Member 8 module: database-backed entities connect every screen into one full shopping journey.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3FF21-A8DA-4B1E-B22D-11BBD627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9E1C2-2EC5-4F81-B8E8-9AC473D5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F4D4B-9B10-428B-A639-08C224E1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44E31-8F7C-49AB-AAFD-E2C938E6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50D02-432F-40CC-8928-ACEF4D1A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1552B-C5EE-4CEE-9D0D-16EEB4F7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Cart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7DC63-CD90-4857-967E-FE303D46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F1223-AF20-47CD-85A4-BE1E1428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AFB8A-B957-4C11-9688-5497B3D8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A8B8F-B5E9-4D07-BB46-0C0FF925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52625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Payment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5375C-06BD-48A6-A220-C97BD066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76625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B05EC-F558-42C9-8BE2-7F8C1E8B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6195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Wishlist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CE6C8-7222-4C7F-A0B3-25891A3D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76625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6DFBE-D7C5-43A6-8E05-B90063BC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195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42E1A7-8B3C-4628-98AC-FD18E972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76625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45041-8D7D-412C-BC75-20F4F6DF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195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4F1C3-524C-4B12-8A97-33EB3609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76625"/>
            <a:ext cx="1428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1A06C-F282-41CF-B40A-3B66F1FF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61950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1C"/>
                </a:solidFill>
              </a:defRPr>
            </a:pPr>
            <a:r>
              <a:rPr sz="1350" b="1">
                <a:solidFill>
                  <a:srgbClr val="10231C"/>
                </a:solidFill>
              </a:rPr>
              <a:t>Uploads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781CD-0DFF-4327-A6B1-53423DF2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431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9A167E-5E1A-4587-AB05-3D3A47DE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FE3B3-BF70-4ED5-BA30-18918E32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2F46D5-D27C-49E0-B91D-AFBB5471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115893-78C1-4455-9460-0FCC4A34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10000"/>
            <a:ext cx="1476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405A2-50A4-4414-9CE0-A567196E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100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9249B0-788F-4509-AA0F-88151B9D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100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B821A-CDC9-42A1-A7E8-8B4F8650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76500"/>
            <a:ext cx="381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6F4EFB-E558-4955-A48E-2B6A9488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76500"/>
            <a:ext cx="381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3FF43-B160-470D-A271-F0B61637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381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A5B"/>
          </a:solidFill>
          <a:ln xmlns:a="http://schemas.openxmlformats.org/drawingml/2006/main" w="0">
            <a:solidFill>
              <a:srgbClr val="477A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AABA1B-CEBC-45BA-B1B0-5C76D33C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9810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4FFE8B-3EFD-4CF1-8EC9-68FFBBE2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4C2F"/>
                </a:solidFill>
              </a:defRPr>
            </a:pPr>
            <a:r>
              <a:rPr sz="1500" b="1">
                <a:solidFill>
                  <a:srgbClr val="164C2F"/>
                </a:solidFill>
              </a:rPr>
              <a:t>Integration outcome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6025E-1009-47DB-B821-BC94050D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95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16A"/>
                </a:solidFill>
              </a:defRPr>
            </a:pPr>
            <a:r>
              <a:rPr sz="1275">
                <a:solidFill>
                  <a:srgbClr val="60716A"/>
                </a:solidFill>
              </a:rPr>
              <a:t>Authentication identifies the user, products feed the catalogue, cart state produces checkout totals, payment creates orders, and reviews/wishlist enrich the customer experience.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61386A-A807-493A-93A0-C6477743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66A747-3667-4E2E-8E28-E7A8B00A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732255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26229-F2DC-401E-8124-2235604E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31C"/>
                </a:solidFill>
              </a:defRPr>
            </a:pPr>
            <a:r>
              <a:rPr sz="2850" b="1">
                <a:solidFill>
                  <a:srgbClr val="10231C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18AC6-1BC7-486E-904E-05ADA73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0716A"/>
                </a:solidFill>
              </a:defRPr>
            </a:pPr>
            <a:r>
              <a:rPr sz="1350">
                <a:solidFill>
                  <a:srgbClr val="60716A"/>
                </a:solidFill>
              </a:rPr>
              <a:t>Mercato demonstrates a complete e-commerce workflow from account access to admin-managed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CD081-E7C1-463C-857B-F00CB17F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90650"/>
            <a:ext cx="31242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35a119d6b4c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287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1BD9C-DD8C-4D9C-95D2-8E77EFBA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84F74-BA34-4463-88E1-1AB2D6DF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A3F41-B462-4347-8E02-7DE56062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390650"/>
            <a:ext cx="31242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fe2d3c1eb40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4287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F87A6-C473-4D39-9DD7-205453DC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432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30EBA-2915-4685-8C5B-0785C095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003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467CD-6CBE-4429-A666-C7666148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390650"/>
            <a:ext cx="31242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a0b28900647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14287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92EDB-583D-4B66-868E-F5CA7AC9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43200"/>
            <a:ext cx="2476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4C2F"/>
          </a:solidFill>
          <a:ln xmlns:a="http://schemas.openxmlformats.org/drawingml/2006/main" w="9525">
            <a:solidFill>
              <a:srgbClr val="164C2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B5FD0-11B6-4546-ADF9-2AABA995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003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4863E-04D3-4650-B25D-47A8BE4A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73C50-BA7D-48C7-BA2A-4E1D6208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4C2F"/>
                </a:solidFill>
              </a:defRPr>
            </a:pPr>
            <a:r>
              <a:rPr sz="1800" b="1">
                <a:solidFill>
                  <a:srgbClr val="164C2F"/>
                </a:solidFill>
              </a:rPr>
              <a:t>Project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DCF73-8442-4C09-8E91-D3F239B0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16A"/>
                </a:solidFill>
              </a:defRPr>
            </a:pPr>
            <a:r>
              <a:rPr sz="1275">
                <a:solidFill>
                  <a:srgbClr val="60716A"/>
                </a:solidFill>
              </a:rPr>
              <a:t>A working full stack shopping system with customer, order, payment, review and admin modules.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D8E390-7798-4734-A97D-60C3553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109EB-E7B9-40BD-B12A-0BCBDD86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4C2F"/>
                </a:solidFill>
              </a:defRPr>
            </a:pPr>
            <a:r>
              <a:rPr sz="1800" b="1">
                <a:solidFill>
                  <a:srgbClr val="164C2F"/>
                </a:solidFill>
              </a:rPr>
              <a:t>Future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F015E-952E-4C90-A9C8-1E53DD4F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16A"/>
                </a:solidFill>
              </a:defRPr>
            </a:pPr>
            <a:r>
              <a:rPr sz="1275">
                <a:solidFill>
                  <a:srgbClr val="60716A"/>
                </a:solidFill>
              </a:rPr>
              <a:t>Small next step: analytics dashboard, richer recommendations and shipment tracking.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0DF93-7974-473C-ACF0-E77BDF10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05250"/>
            <a:ext cx="314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9BF00-C07E-47E6-819A-B4C5E830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4C2F"/>
                </a:solidFill>
              </a:defRPr>
            </a:pPr>
            <a:r>
              <a:rPr sz="1800" b="1">
                <a:solidFill>
                  <a:srgbClr val="164C2F"/>
                </a:solidFill>
              </a:rPr>
              <a:t>Thank you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163243-BC8B-45F6-A2BE-17F3D872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0716A"/>
                </a:solidFill>
              </a:defRPr>
            </a:pPr>
            <a:r>
              <a:rPr sz="1275">
                <a:solidFill>
                  <a:srgbClr val="60716A"/>
                </a:solidFill>
              </a:rPr>
              <a:t>Presented by the 8-member project team.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4F4C23-B127-4932-8914-193982CD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B8B84"/>
                </a:solidFill>
              </a:defRPr>
            </a:pPr>
            <a:r>
              <a:rPr sz="900">
                <a:solidFill>
                  <a:srgbClr val="7B8B84"/>
                </a:solidFill>
              </a:rPr>
              <a:t>Mercato E-Commerce Full Stack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56703-1D69-4717-97AB-82A74F03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4C2F"/>
                </a:solidFill>
              </a:defRPr>
            </a:pPr>
            <a:r>
              <a:rPr sz="1050" b="1">
                <a:solidFill>
                  <a:srgbClr val="164C2F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32058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2026-06-28T18:24:44.5420000Z</dcterms:created>
  <dcterms:modified xsi:type="dcterms:W3CDTF">2026-06-28T18:24:44.5420000Z</dcterms:modified>
</coreProperties>
</file>